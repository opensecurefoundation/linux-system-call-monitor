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1" r:id="rId6"/>
    <p:sldId id="262" r:id="rId7"/>
    <p:sldId id="263" r:id="rId8"/>
    <p:sldId id="264" r:id="rId9"/>
    <p:sldId id="265" r:id="rId10"/>
    <p:sldId id="266" r:id="rId11"/>
    <p:sldId id="260"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fr-FR"/>
              <a:t>Modifiez le style du titre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1/23/2026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dirty="0"/>
              <a:t>
              </a:t>
            </a: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1/23/2026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F34E6425-0181-43F2-84FC-787E803FD2F8}" type="datetimeFigureOut">
              <a:rPr lang="en-US" dirty="0"/>
              <a:t>1/23/2026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1/23/2026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1/23/2026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fr-FR"/>
              <a:t>Modifiez le style du titre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1/23/2026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1/23/2026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fr-FR"/>
              <a:t>Modifiez le style du titre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76E86A4C-8E40-4F87-A4F0-01A0687C5742}" type="datetimeFigureOut">
              <a:rPr lang="en-US" dirty="0"/>
              <a:t>1/23/2026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fr-FR"/>
              <a:t>Modifiez le style du titre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fr-FR"/>
              <a:t>Cliquez sur l'icône pour ajouter une image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35E72C73-2D91-4E12-BA25-F0AA0C03599B}" type="datetimeFigureOut">
              <a:rPr lang="en-US" dirty="0"/>
              <a:t>1/23/2026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923A1CC3-2375-41D4-9E03-427CAF2A4C1A}" type="datetimeFigureOut">
              <a:rPr lang="en-US" dirty="0"/>
              <a:t>1/23/2026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re et légen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fr-FR"/>
              <a:t>Modifiez le style du titre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AFF16868-8199-4C2C-A5B1-63AEE139F88E}" type="datetimeFigureOut">
              <a:rPr lang="en-US" dirty="0"/>
              <a:t>1/23/2026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tion avec légende">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fr-FR"/>
              <a:t>Modifiez le style du titre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AAD9FF7F-6988-44CC-821B-644E70CD2F73}" type="datetimeFigureOut">
              <a:rPr lang="en-US" dirty="0"/>
              <a:t>1/23/2026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rte nom">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C12C299-16B2-4475-990D-751901EACC14}" type="datetimeFigureOut">
              <a:rPr lang="en-US" dirty="0"/>
              <a:t>1/23/2026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fr-FR"/>
              <a:t>Modifiez le style du titre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1/23/2026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fr-FR"/>
              <a:t>Modifiez le style du titre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1/23/2026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1/23/2026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fr-FR"/>
              <a:t>Modifiez le style du titre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1/23/2026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fr-FR"/>
              <a:t>Modifiez le style du titre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1/23/2026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dirty="0"/>
              <a:t>
              </a:t>
            </a: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117809-B45A-459F-8BE4-5E4013646E12}"/>
              </a:ext>
            </a:extLst>
          </p:cNvPr>
          <p:cNvSpPr>
            <a:spLocks noGrp="1"/>
          </p:cNvSpPr>
          <p:nvPr>
            <p:ph type="ctrTitle"/>
          </p:nvPr>
        </p:nvSpPr>
        <p:spPr>
          <a:xfrm>
            <a:off x="1134068" y="1755177"/>
            <a:ext cx="9923863" cy="2677648"/>
          </a:xfrm>
        </p:spPr>
        <p:txBody>
          <a:bodyPr/>
          <a:lstStyle/>
          <a:p>
            <a:r>
              <a:rPr lang="fr-FR" sz="7200" b="1" dirty="0"/>
              <a:t>Présentation du dossier d’Analyse </a:t>
            </a:r>
          </a:p>
        </p:txBody>
      </p:sp>
    </p:spTree>
    <p:extLst>
      <p:ext uri="{BB962C8B-B14F-4D97-AF65-F5344CB8AC3E}">
        <p14:creationId xmlns:p14="http://schemas.microsoft.com/office/powerpoint/2010/main" val="1871102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D4A196-4D6C-4F02-A275-D1C729DE6C17}"/>
              </a:ext>
            </a:extLst>
          </p:cNvPr>
          <p:cNvSpPr>
            <a:spLocks noGrp="1"/>
          </p:cNvSpPr>
          <p:nvPr>
            <p:ph type="title"/>
          </p:nvPr>
        </p:nvSpPr>
        <p:spPr/>
        <p:txBody>
          <a:bodyPr/>
          <a:lstStyle/>
          <a:p>
            <a:r>
              <a:rPr lang="fr-FR" dirty="0"/>
              <a:t>Plan de la présentation</a:t>
            </a:r>
          </a:p>
        </p:txBody>
      </p:sp>
      <p:sp>
        <p:nvSpPr>
          <p:cNvPr id="3" name="Espace réservé du contenu 2">
            <a:extLst>
              <a:ext uri="{FF2B5EF4-FFF2-40B4-BE49-F238E27FC236}">
                <a16:creationId xmlns:a16="http://schemas.microsoft.com/office/drawing/2014/main" id="{B68BA1B1-6B67-434F-9A1B-5F130DDB88C7}"/>
              </a:ext>
            </a:extLst>
          </p:cNvPr>
          <p:cNvSpPr>
            <a:spLocks noGrp="1"/>
          </p:cNvSpPr>
          <p:nvPr>
            <p:ph idx="1"/>
          </p:nvPr>
        </p:nvSpPr>
        <p:spPr/>
        <p:txBody>
          <a:bodyPr>
            <a:normAutofit/>
          </a:bodyPr>
          <a:lstStyle/>
          <a:p>
            <a:pPr>
              <a:lnSpc>
                <a:spcPct val="200000"/>
              </a:lnSpc>
            </a:pPr>
            <a:r>
              <a:rPr lang="fr-FR" dirty="0"/>
              <a:t>INTRODUCTION</a:t>
            </a:r>
          </a:p>
          <a:p>
            <a:pPr>
              <a:lnSpc>
                <a:spcPct val="200000"/>
              </a:lnSpc>
            </a:pPr>
            <a:r>
              <a:rPr lang="fr-FR" dirty="0"/>
              <a:t>PRESENTATION DES ACTEURS</a:t>
            </a:r>
          </a:p>
          <a:p>
            <a:pPr>
              <a:lnSpc>
                <a:spcPct val="200000"/>
              </a:lnSpc>
            </a:pPr>
            <a:r>
              <a:rPr lang="fr-FR" dirty="0"/>
              <a:t>PRESENTATION DES CAS D’UTILISATIONS SPECIFIQUES</a:t>
            </a:r>
          </a:p>
          <a:p>
            <a:pPr>
              <a:lnSpc>
                <a:spcPct val="200000"/>
              </a:lnSpc>
            </a:pPr>
            <a:r>
              <a:rPr lang="fr-FR" dirty="0"/>
              <a:t>DIAGRAMME DE CAS D’UTILISATION GLOBAL</a:t>
            </a:r>
          </a:p>
          <a:p>
            <a:pPr>
              <a:lnSpc>
                <a:spcPct val="200000"/>
              </a:lnSpc>
            </a:pPr>
            <a:r>
              <a:rPr lang="fr-FR" dirty="0"/>
              <a:t>CONCLUSION</a:t>
            </a:r>
          </a:p>
          <a:p>
            <a:endParaRPr lang="fr-FR" dirty="0"/>
          </a:p>
        </p:txBody>
      </p:sp>
    </p:spTree>
    <p:extLst>
      <p:ext uri="{BB962C8B-B14F-4D97-AF65-F5344CB8AC3E}">
        <p14:creationId xmlns:p14="http://schemas.microsoft.com/office/powerpoint/2010/main" val="2735155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67779B-EED4-4B73-A2C3-3DB3E633F616}"/>
              </a:ext>
            </a:extLst>
          </p:cNvPr>
          <p:cNvSpPr>
            <a:spLocks noGrp="1"/>
          </p:cNvSpPr>
          <p:nvPr>
            <p:ph type="title"/>
          </p:nvPr>
        </p:nvSpPr>
        <p:spPr/>
        <p:txBody>
          <a:bodyPr/>
          <a:lstStyle/>
          <a:p>
            <a:r>
              <a:rPr lang="fr-FR" dirty="0"/>
              <a:t>INTRODUCTION</a:t>
            </a:r>
          </a:p>
        </p:txBody>
      </p:sp>
      <p:sp>
        <p:nvSpPr>
          <p:cNvPr id="3" name="Espace réservé du contenu 2">
            <a:extLst>
              <a:ext uri="{FF2B5EF4-FFF2-40B4-BE49-F238E27FC236}">
                <a16:creationId xmlns:a16="http://schemas.microsoft.com/office/drawing/2014/main" id="{5405723E-BCCE-489D-8D90-DA3ECF937F81}"/>
              </a:ext>
            </a:extLst>
          </p:cNvPr>
          <p:cNvSpPr>
            <a:spLocks noGrp="1"/>
          </p:cNvSpPr>
          <p:nvPr>
            <p:ph idx="1"/>
          </p:nvPr>
        </p:nvSpPr>
        <p:spPr>
          <a:xfrm>
            <a:off x="928659" y="2444474"/>
            <a:ext cx="10334681" cy="3982830"/>
          </a:xfrm>
        </p:spPr>
        <p:txBody>
          <a:bodyPr>
            <a:normAutofit fontScale="85000" lnSpcReduction="20000"/>
          </a:bodyPr>
          <a:lstStyle/>
          <a:p>
            <a:pPr indent="0" algn="just">
              <a:lnSpc>
                <a:spcPct val="150000"/>
              </a:lnSpc>
              <a:spcAft>
                <a:spcPts val="800"/>
              </a:spcAft>
              <a:buNone/>
            </a:pPr>
            <a:r>
              <a:rPr lang="fr-FR" sz="2200" i="1" dirty="0">
                <a:effectLst/>
                <a:latin typeface="+mj-lt"/>
                <a:ea typeface="Calibri" panose="020F0502020204030204" pitchFamily="34" charset="0"/>
                <a:cs typeface="Aharoni" panose="020B0604020202020204" pitchFamily="2" charset="-79"/>
              </a:rPr>
              <a:t>La réalisation d’un bon projet repose principalement sur son analyse. Ainsi, un projet mal analysé ne saurait donner de bons résultats. Cette étude est axée sur les spécifications fonctionnelles de manière optique une idée exacte de ce que réalise l’application pour les utilisateurs. Les résultats de l’analyse ne dépendent d’aucune technologie particulière. Cependant le résultat principal de cette partie est la délimitation du périmètre de l’application à concevoir c’est-à-dire les besoins des futurs utilisateurs. Pour ce faire le choix d’une méthode permettant un suivi aisé du développement de notre application est primordial. A cet effet notre choix s’est posé sur la méthode 2TUP du langage UML. Il est donc question pour nous d’utiliser les protocoles et normes de cette méthode pour effectuer notre dossier d’analyse. </a:t>
            </a:r>
          </a:p>
          <a:p>
            <a:pPr marL="0" indent="0">
              <a:buNone/>
            </a:pPr>
            <a:endParaRPr lang="fr-FR" dirty="0"/>
          </a:p>
        </p:txBody>
      </p:sp>
    </p:spTree>
    <p:extLst>
      <p:ext uri="{BB962C8B-B14F-4D97-AF65-F5344CB8AC3E}">
        <p14:creationId xmlns:p14="http://schemas.microsoft.com/office/powerpoint/2010/main" val="6262891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A5D93C-EB5D-4F74-86DA-59C46A504E9D}"/>
              </a:ext>
            </a:extLst>
          </p:cNvPr>
          <p:cNvSpPr>
            <a:spLocks noGrp="1"/>
          </p:cNvSpPr>
          <p:nvPr>
            <p:ph type="title"/>
          </p:nvPr>
        </p:nvSpPr>
        <p:spPr/>
        <p:txBody>
          <a:bodyPr/>
          <a:lstStyle/>
          <a:p>
            <a:r>
              <a:rPr lang="fr-FR" dirty="0"/>
              <a:t>PRESENTATION DES ACTEURS</a:t>
            </a:r>
          </a:p>
        </p:txBody>
      </p:sp>
      <p:sp>
        <p:nvSpPr>
          <p:cNvPr id="3" name="Espace réservé du contenu 2">
            <a:extLst>
              <a:ext uri="{FF2B5EF4-FFF2-40B4-BE49-F238E27FC236}">
                <a16:creationId xmlns:a16="http://schemas.microsoft.com/office/drawing/2014/main" id="{2C7D4C37-2E94-4934-BE74-74EB4D2ED630}"/>
              </a:ext>
            </a:extLst>
          </p:cNvPr>
          <p:cNvSpPr>
            <a:spLocks noGrp="1"/>
          </p:cNvSpPr>
          <p:nvPr>
            <p:ph idx="1"/>
          </p:nvPr>
        </p:nvSpPr>
        <p:spPr/>
        <p:txBody>
          <a:bodyPr/>
          <a:lstStyle/>
          <a:p>
            <a:r>
              <a:rPr lang="fr-FR" dirty="0"/>
              <a:t>L’utilisateur: c’est celui qui emmétra des action dans l’application</a:t>
            </a:r>
          </a:p>
          <a:p>
            <a:endParaRPr lang="fr-FR" dirty="0"/>
          </a:p>
          <a:p>
            <a:endParaRPr lang="fr-FR" dirty="0"/>
          </a:p>
          <a:p>
            <a:r>
              <a:rPr lang="fr-FR" dirty="0" err="1"/>
              <a:t>Ebpf</a:t>
            </a:r>
            <a:r>
              <a:rPr lang="fr-FR" dirty="0"/>
              <a:t> (</a:t>
            </a:r>
            <a:r>
              <a:rPr lang="fr-FR" dirty="0" err="1"/>
              <a:t>extended</a:t>
            </a:r>
            <a:r>
              <a:rPr lang="fr-FR" dirty="0"/>
              <a:t> </a:t>
            </a:r>
            <a:r>
              <a:rPr lang="fr-FR" dirty="0" err="1"/>
              <a:t>berkely</a:t>
            </a:r>
            <a:r>
              <a:rPr lang="fr-FR" dirty="0"/>
              <a:t> </a:t>
            </a:r>
            <a:r>
              <a:rPr lang="fr-FR" dirty="0" err="1"/>
              <a:t>packet</a:t>
            </a:r>
            <a:r>
              <a:rPr lang="fr-FR" dirty="0"/>
              <a:t> </a:t>
            </a:r>
            <a:r>
              <a:rPr lang="fr-FR" dirty="0" err="1"/>
              <a:t>filter</a:t>
            </a:r>
            <a:r>
              <a:rPr lang="fr-FR" dirty="0"/>
              <a:t>) technologie dans linux permettant d’observer les action du système en profondeur et s’exécutant dans le kernel de linux</a:t>
            </a:r>
          </a:p>
          <a:p>
            <a:endParaRPr lang="fr-FR" dirty="0"/>
          </a:p>
          <a:p>
            <a:endParaRPr lang="fr-FR" dirty="0"/>
          </a:p>
          <a:p>
            <a:r>
              <a:rPr lang="fr-FR" dirty="0"/>
              <a:t>Kernel(noyau): cœur ou noyau  du système d’exploitation</a:t>
            </a:r>
          </a:p>
        </p:txBody>
      </p:sp>
    </p:spTree>
    <p:extLst>
      <p:ext uri="{BB962C8B-B14F-4D97-AF65-F5344CB8AC3E}">
        <p14:creationId xmlns:p14="http://schemas.microsoft.com/office/powerpoint/2010/main" val="1380949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1DB68D-3D40-44BA-ABD3-D9A947A24B62}"/>
              </a:ext>
            </a:extLst>
          </p:cNvPr>
          <p:cNvSpPr>
            <a:spLocks noGrp="1"/>
          </p:cNvSpPr>
          <p:nvPr>
            <p:ph type="title"/>
          </p:nvPr>
        </p:nvSpPr>
        <p:spPr/>
        <p:txBody>
          <a:bodyPr/>
          <a:lstStyle/>
          <a:p>
            <a:r>
              <a:rPr lang="fr-FR" dirty="0"/>
              <a:t>Cas d’utilisation</a:t>
            </a:r>
          </a:p>
        </p:txBody>
      </p:sp>
      <p:sp>
        <p:nvSpPr>
          <p:cNvPr id="3" name="Espace réservé du contenu 2">
            <a:extLst>
              <a:ext uri="{FF2B5EF4-FFF2-40B4-BE49-F238E27FC236}">
                <a16:creationId xmlns:a16="http://schemas.microsoft.com/office/drawing/2014/main" id="{BA1C6BE2-000E-4BB6-8076-8DC0CD905890}"/>
              </a:ext>
            </a:extLst>
          </p:cNvPr>
          <p:cNvSpPr>
            <a:spLocks noGrp="1"/>
          </p:cNvSpPr>
          <p:nvPr>
            <p:ph idx="1"/>
          </p:nvPr>
        </p:nvSpPr>
        <p:spPr/>
        <p:txBody>
          <a:bodyPr>
            <a:normAutofit lnSpcReduction="10000"/>
          </a:bodyPr>
          <a:lstStyle/>
          <a:p>
            <a:pPr marL="0" indent="0">
              <a:buNone/>
            </a:pPr>
            <a:r>
              <a:rPr lang="fr-FR" dirty="0"/>
              <a:t>On peut voir les cas d’utilisation suivant:</a:t>
            </a:r>
          </a:p>
          <a:p>
            <a:pPr algn="just">
              <a:lnSpc>
                <a:spcPct val="150000"/>
              </a:lnSpc>
            </a:pP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S’authentifier</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Consulter Dashboard </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Visualiser statistiques </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Capturer appels système</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Générer appels système </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Classifier appels système </a:t>
            </a:r>
            <a:r>
              <a:rPr lang="fr-FR" dirty="0"/>
              <a:t> </a:t>
            </a:r>
          </a:p>
        </p:txBody>
      </p:sp>
    </p:spTree>
    <p:extLst>
      <p:ext uri="{BB962C8B-B14F-4D97-AF65-F5344CB8AC3E}">
        <p14:creationId xmlns:p14="http://schemas.microsoft.com/office/powerpoint/2010/main" val="1689959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9DFEA7-B582-4DAC-9E8F-7D95D476406D}"/>
              </a:ext>
            </a:extLst>
          </p:cNvPr>
          <p:cNvSpPr>
            <a:spLocks noGrp="1"/>
          </p:cNvSpPr>
          <p:nvPr>
            <p:ph type="title"/>
          </p:nvPr>
        </p:nvSpPr>
        <p:spPr/>
        <p:txBody>
          <a:bodyPr/>
          <a:lstStyle/>
          <a:p>
            <a:r>
              <a:rPr lang="fr-FR" dirty="0"/>
              <a:t>Cas d’utilisation: s’authentifier</a:t>
            </a:r>
          </a:p>
        </p:txBody>
      </p:sp>
      <p:sp>
        <p:nvSpPr>
          <p:cNvPr id="3" name="Espace réservé du contenu 2">
            <a:extLst>
              <a:ext uri="{FF2B5EF4-FFF2-40B4-BE49-F238E27FC236}">
                <a16:creationId xmlns:a16="http://schemas.microsoft.com/office/drawing/2014/main" id="{2CCFF69B-8724-454C-BA8E-D0DB75909271}"/>
              </a:ext>
            </a:extLst>
          </p:cNvPr>
          <p:cNvSpPr>
            <a:spLocks noGrp="1"/>
          </p:cNvSpPr>
          <p:nvPr>
            <p:ph idx="1"/>
          </p:nvPr>
        </p:nvSpPr>
        <p:spPr>
          <a:xfrm>
            <a:off x="609600" y="2531167"/>
            <a:ext cx="10972799" cy="3836503"/>
          </a:xfrm>
        </p:spPr>
        <p:txBody>
          <a:bodyPr>
            <a:normAutofit/>
          </a:bodyPr>
          <a:lstStyle/>
          <a:p>
            <a:pPr marL="0" indent="0">
              <a:buNone/>
            </a:pPr>
            <a:r>
              <a:rPr lang="fr-FR" dirty="0"/>
              <a:t>Description: permettre a l’utilisateur d’accéder au Dashboard </a:t>
            </a:r>
          </a:p>
          <a:p>
            <a:pPr marL="0" indent="0">
              <a:buNone/>
            </a:pPr>
            <a:r>
              <a:rPr lang="fr-FR" dirty="0"/>
              <a:t>Acteur: utilisateur </a:t>
            </a:r>
          </a:p>
          <a:p>
            <a:pPr marL="0" indent="0">
              <a:buNone/>
            </a:pPr>
            <a:r>
              <a:rPr lang="fr-FR" dirty="0"/>
              <a:t>Présuppose: l’utilisateur procède des identifiant valide</a:t>
            </a:r>
          </a:p>
          <a:p>
            <a:pPr marL="0" indent="0">
              <a:buNone/>
            </a:pPr>
            <a:r>
              <a:rPr lang="fr-FR" dirty="0"/>
              <a:t>Précondition: L’utilisateur est sur la page de connexion, -	Le Dashboard web est opérationnel </a:t>
            </a:r>
          </a:p>
          <a:p>
            <a:pPr marL="0" indent="0">
              <a:buNone/>
            </a:pPr>
            <a:r>
              <a:rPr lang="fr-FR" sz="1800" dirty="0">
                <a:effectLst/>
                <a:latin typeface="+mj-lt"/>
                <a:ea typeface="Calibri" panose="020F0502020204030204" pitchFamily="34" charset="0"/>
                <a:cs typeface="Times New Roman" panose="02020603050405020304" pitchFamily="18" charset="0"/>
              </a:rPr>
              <a:t>Postcondition : l’utilisateur est authentifié</a:t>
            </a:r>
          </a:p>
          <a:p>
            <a:pPr marL="0" indent="0">
              <a:buNone/>
            </a:pPr>
            <a:r>
              <a:rPr lang="fr-FR" sz="1800" dirty="0">
                <a:effectLst/>
                <a:latin typeface="+mj-lt"/>
                <a:ea typeface="Calibri" panose="020F0502020204030204" pitchFamily="34" charset="0"/>
                <a:cs typeface="Times New Roman" panose="02020603050405020304" pitchFamily="18" charset="0"/>
              </a:rPr>
              <a:t>Scénario principal : L’utilisateur accède à la page de connexion, L’utilisateur saisit ses identifiants, Le système vérifie les informations d’identification, Si les informations sont correctes, l’utilisateur est dirigé vers le Dashboard. </a:t>
            </a:r>
          </a:p>
          <a:p>
            <a:pPr marL="0" indent="0">
              <a:buNone/>
            </a:pPr>
            <a:r>
              <a:rPr lang="fr-FR" sz="1800" dirty="0">
                <a:effectLst/>
                <a:latin typeface="+mj-lt"/>
                <a:ea typeface="Calibri" panose="020F0502020204030204" pitchFamily="34" charset="0"/>
                <a:cs typeface="Times New Roman" panose="02020603050405020304" pitchFamily="18" charset="0"/>
              </a:rPr>
              <a:t>Scénario alternatif : L’utilisateur saisit les informations incorrectes, Le système affiche un message d’erreur, L’utilisateur peut réessayer de se connecter. </a:t>
            </a:r>
          </a:p>
          <a:p>
            <a:pPr marL="0" indent="0">
              <a:buNone/>
            </a:pPr>
            <a:endParaRPr lang="fr-FR" sz="1800" dirty="0">
              <a:effectLst/>
              <a:latin typeface="+mj-lt"/>
              <a:ea typeface="Calibri" panose="020F0502020204030204" pitchFamily="34" charset="0"/>
              <a:cs typeface="Times New Roman" panose="02020603050405020304" pitchFamily="18" charset="0"/>
            </a:endParaRPr>
          </a:p>
          <a:p>
            <a:pPr marL="0" indent="0">
              <a:buNone/>
            </a:pPr>
            <a:endParaRPr lang="fr-FR" sz="18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98622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7791C7-250E-42BE-9030-E5958D68596D}"/>
              </a:ext>
            </a:extLst>
          </p:cNvPr>
          <p:cNvSpPr>
            <a:spLocks noGrp="1"/>
          </p:cNvSpPr>
          <p:nvPr>
            <p:ph type="title"/>
          </p:nvPr>
        </p:nvSpPr>
        <p:spPr/>
        <p:txBody>
          <a:bodyPr/>
          <a:lstStyle/>
          <a:p>
            <a:r>
              <a:rPr lang="fr-FR" dirty="0"/>
              <a:t>Cas d’utilisation: consulter Dashboard</a:t>
            </a:r>
          </a:p>
        </p:txBody>
      </p:sp>
      <p:sp>
        <p:nvSpPr>
          <p:cNvPr id="3" name="Espace réservé du contenu 2">
            <a:extLst>
              <a:ext uri="{FF2B5EF4-FFF2-40B4-BE49-F238E27FC236}">
                <a16:creationId xmlns:a16="http://schemas.microsoft.com/office/drawing/2014/main" id="{ACFD700B-B1A2-4B95-8521-198E4D32FC41}"/>
              </a:ext>
            </a:extLst>
          </p:cNvPr>
          <p:cNvSpPr>
            <a:spLocks noGrp="1"/>
          </p:cNvSpPr>
          <p:nvPr>
            <p:ph idx="1"/>
          </p:nvPr>
        </p:nvSpPr>
        <p:spPr/>
        <p:txBody>
          <a:bodyPr>
            <a:normAutofit fontScale="92500" lnSpcReduction="10000"/>
          </a:bodyPr>
          <a:lstStyle/>
          <a:p>
            <a:pPr marL="0" indent="0">
              <a:buNone/>
            </a:pPr>
            <a:r>
              <a:rPr lang="fr-FR" dirty="0"/>
              <a:t>Description : Accès à l’interface web de visualisation.</a:t>
            </a:r>
          </a:p>
          <a:p>
            <a:pPr marL="0" indent="0">
              <a:buNone/>
            </a:pPr>
            <a:r>
              <a:rPr lang="fr-FR" dirty="0"/>
              <a:t>Acteur : utilisateur</a:t>
            </a:r>
          </a:p>
          <a:p>
            <a:pPr marL="0" indent="0">
              <a:buNone/>
            </a:pPr>
            <a:r>
              <a:rPr lang="fr-FR" dirty="0"/>
              <a:t>Présupposé : le système est installé sur linux </a:t>
            </a:r>
            <a:r>
              <a:rPr lang="fr-FR" dirty="0" err="1"/>
              <a:t>mint</a:t>
            </a:r>
            <a:endParaRPr lang="fr-FR" dirty="0"/>
          </a:p>
          <a:p>
            <a:pPr marL="0" indent="0">
              <a:buNone/>
            </a:pPr>
            <a:r>
              <a:rPr lang="fr-FR" dirty="0"/>
              <a:t>Précondition : </a:t>
            </a:r>
          </a:p>
          <a:p>
            <a:pPr marL="0" indent="0">
              <a:buNone/>
            </a:pPr>
            <a:r>
              <a:rPr lang="fr-FR" dirty="0"/>
              <a:t>-	L’utilisateur est authentifié</a:t>
            </a:r>
          </a:p>
          <a:p>
            <a:pPr marL="0" indent="0">
              <a:buNone/>
            </a:pPr>
            <a:r>
              <a:rPr lang="fr-FR" dirty="0"/>
              <a:t>Postcondition : Dashboard visible </a:t>
            </a:r>
          </a:p>
          <a:p>
            <a:pPr marL="0" indent="0">
              <a:buNone/>
            </a:pPr>
            <a:r>
              <a:rPr lang="fr-FR" dirty="0"/>
              <a:t>Scénario principal : </a:t>
            </a:r>
          </a:p>
          <a:p>
            <a:pPr marL="0" indent="0">
              <a:buNone/>
            </a:pPr>
            <a:r>
              <a:rPr lang="fr-FR" dirty="0"/>
              <a:t>-	L’utilisateur accède au Dashboard</a:t>
            </a:r>
          </a:p>
          <a:p>
            <a:pPr marL="0" indent="0">
              <a:buNone/>
            </a:pPr>
            <a:r>
              <a:rPr lang="fr-FR" dirty="0"/>
              <a:t>-	Le système charge les données.</a:t>
            </a:r>
          </a:p>
        </p:txBody>
      </p:sp>
    </p:spTree>
    <p:extLst>
      <p:ext uri="{BB962C8B-B14F-4D97-AF65-F5344CB8AC3E}">
        <p14:creationId xmlns:p14="http://schemas.microsoft.com/office/powerpoint/2010/main" val="3102820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327087-6E8D-4F8C-B77B-66598CA5484D}"/>
              </a:ext>
            </a:extLst>
          </p:cNvPr>
          <p:cNvSpPr>
            <a:spLocks noGrp="1"/>
          </p:cNvSpPr>
          <p:nvPr>
            <p:ph type="title"/>
          </p:nvPr>
        </p:nvSpPr>
        <p:spPr/>
        <p:txBody>
          <a:bodyPr/>
          <a:lstStyle/>
          <a:p>
            <a:r>
              <a:rPr lang="fr-FR" dirty="0"/>
              <a:t>Cas d’utilisation : visualiser statistiques </a:t>
            </a:r>
          </a:p>
        </p:txBody>
      </p:sp>
      <p:sp>
        <p:nvSpPr>
          <p:cNvPr id="3" name="Espace réservé du contenu 2">
            <a:extLst>
              <a:ext uri="{FF2B5EF4-FFF2-40B4-BE49-F238E27FC236}">
                <a16:creationId xmlns:a16="http://schemas.microsoft.com/office/drawing/2014/main" id="{9F7B1422-42BC-4FA9-96BF-0017906CB4F5}"/>
              </a:ext>
            </a:extLst>
          </p:cNvPr>
          <p:cNvSpPr>
            <a:spLocks noGrp="1"/>
          </p:cNvSpPr>
          <p:nvPr>
            <p:ph idx="1"/>
          </p:nvPr>
        </p:nvSpPr>
        <p:spPr/>
        <p:txBody>
          <a:bodyPr/>
          <a:lstStyle/>
          <a:p>
            <a:pPr marL="0" indent="0">
              <a:buNone/>
            </a:pPr>
            <a:r>
              <a:rPr lang="fr-FR" dirty="0"/>
              <a:t>Description : affiche les statistiques des appels système</a:t>
            </a:r>
          </a:p>
          <a:p>
            <a:pPr marL="0" indent="0">
              <a:buNone/>
            </a:pPr>
            <a:r>
              <a:rPr lang="fr-FR" dirty="0"/>
              <a:t>Acteur : utilisateur </a:t>
            </a:r>
          </a:p>
          <a:p>
            <a:pPr marL="0" indent="0">
              <a:buNone/>
            </a:pPr>
            <a:r>
              <a:rPr lang="fr-FR" dirty="0"/>
              <a:t>Précondition : données stockées </a:t>
            </a:r>
          </a:p>
          <a:p>
            <a:pPr marL="0" indent="0">
              <a:buNone/>
            </a:pPr>
            <a:r>
              <a:rPr lang="fr-FR" dirty="0"/>
              <a:t>Postcondition : statistiques affichées </a:t>
            </a:r>
          </a:p>
          <a:p>
            <a:pPr marL="0" indent="0">
              <a:buNone/>
            </a:pPr>
            <a:r>
              <a:rPr lang="fr-FR" dirty="0"/>
              <a:t>Scénario principal : </a:t>
            </a:r>
          </a:p>
          <a:p>
            <a:pPr marL="0" indent="0">
              <a:buNone/>
            </a:pPr>
            <a:r>
              <a:rPr lang="fr-FR" dirty="0"/>
              <a:t>Le système calcule les statistiques </a:t>
            </a:r>
          </a:p>
          <a:p>
            <a:pPr marL="0" indent="0">
              <a:buNone/>
            </a:pPr>
            <a:r>
              <a:rPr lang="fr-FR" dirty="0"/>
              <a:t>Les graphiques sont affichés.</a:t>
            </a:r>
          </a:p>
        </p:txBody>
      </p:sp>
    </p:spTree>
    <p:extLst>
      <p:ext uri="{BB962C8B-B14F-4D97-AF65-F5344CB8AC3E}">
        <p14:creationId xmlns:p14="http://schemas.microsoft.com/office/powerpoint/2010/main" val="1673554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4B8FF8-1061-4488-80DD-5035DAA780E0}"/>
              </a:ext>
            </a:extLst>
          </p:cNvPr>
          <p:cNvSpPr>
            <a:spLocks noGrp="1"/>
          </p:cNvSpPr>
          <p:nvPr>
            <p:ph type="title"/>
          </p:nvPr>
        </p:nvSpPr>
        <p:spPr/>
        <p:txBody>
          <a:bodyPr/>
          <a:lstStyle/>
          <a:p>
            <a:r>
              <a:rPr lang="fr-FR" dirty="0"/>
              <a:t>Cas d’utilisation :  capturer appels système </a:t>
            </a:r>
          </a:p>
        </p:txBody>
      </p:sp>
      <p:sp>
        <p:nvSpPr>
          <p:cNvPr id="3" name="Espace réservé du contenu 2">
            <a:extLst>
              <a:ext uri="{FF2B5EF4-FFF2-40B4-BE49-F238E27FC236}">
                <a16:creationId xmlns:a16="http://schemas.microsoft.com/office/drawing/2014/main" id="{D9F9CD46-1FF5-4EA7-B4E4-B2C40245AA30}"/>
              </a:ext>
            </a:extLst>
          </p:cNvPr>
          <p:cNvSpPr>
            <a:spLocks noGrp="1"/>
          </p:cNvSpPr>
          <p:nvPr>
            <p:ph idx="1"/>
          </p:nvPr>
        </p:nvSpPr>
        <p:spPr/>
        <p:txBody>
          <a:bodyPr/>
          <a:lstStyle/>
          <a:p>
            <a:pPr marL="0" indent="0">
              <a:buNone/>
            </a:pPr>
            <a:r>
              <a:rPr lang="fr-FR" dirty="0"/>
              <a:t>Description : collecte les appels système générés en temps réel</a:t>
            </a:r>
          </a:p>
          <a:p>
            <a:pPr marL="0" indent="0">
              <a:buNone/>
            </a:pPr>
            <a:r>
              <a:rPr lang="fr-FR" dirty="0"/>
              <a:t>Acteur : </a:t>
            </a:r>
            <a:r>
              <a:rPr lang="fr-FR" dirty="0" err="1"/>
              <a:t>eBPF</a:t>
            </a:r>
            <a:endParaRPr lang="fr-FR" dirty="0"/>
          </a:p>
          <a:p>
            <a:pPr marL="0" indent="0">
              <a:buNone/>
            </a:pPr>
            <a:r>
              <a:rPr lang="fr-FR" dirty="0"/>
              <a:t>Précondition : surveillance active </a:t>
            </a:r>
          </a:p>
          <a:p>
            <a:pPr marL="0" indent="0">
              <a:buNone/>
            </a:pPr>
            <a:r>
              <a:rPr lang="fr-FR" dirty="0"/>
              <a:t>Postcondition : appel système capturé avec ses métadonnées </a:t>
            </a:r>
          </a:p>
          <a:p>
            <a:pPr marL="0" indent="0">
              <a:buNone/>
            </a:pPr>
            <a:r>
              <a:rPr lang="fr-FR" dirty="0"/>
              <a:t>Scénario principal :  </a:t>
            </a:r>
          </a:p>
          <a:p>
            <a:pPr marL="0" indent="0">
              <a:buNone/>
            </a:pPr>
            <a:r>
              <a:rPr lang="fr-FR" dirty="0"/>
              <a:t>-	</a:t>
            </a:r>
            <a:r>
              <a:rPr lang="fr-FR" dirty="0" err="1"/>
              <a:t>eBPF</a:t>
            </a:r>
            <a:r>
              <a:rPr lang="fr-FR" dirty="0"/>
              <a:t> intercepte l’appel système du Kernel</a:t>
            </a:r>
          </a:p>
          <a:p>
            <a:pPr marL="0" indent="0">
              <a:buNone/>
            </a:pPr>
            <a:r>
              <a:rPr lang="fr-FR" dirty="0"/>
              <a:t>-	L’appel est transmis au module de classification</a:t>
            </a:r>
          </a:p>
        </p:txBody>
      </p:sp>
    </p:spTree>
    <p:extLst>
      <p:ext uri="{BB962C8B-B14F-4D97-AF65-F5344CB8AC3E}">
        <p14:creationId xmlns:p14="http://schemas.microsoft.com/office/powerpoint/2010/main" val="2372704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67C2BB-3DB2-40C8-ADCB-BBE9BC2F32AD}"/>
              </a:ext>
            </a:extLst>
          </p:cNvPr>
          <p:cNvSpPr>
            <a:spLocks noGrp="1"/>
          </p:cNvSpPr>
          <p:nvPr>
            <p:ph type="title"/>
          </p:nvPr>
        </p:nvSpPr>
        <p:spPr/>
        <p:txBody>
          <a:bodyPr/>
          <a:lstStyle/>
          <a:p>
            <a:r>
              <a:rPr lang="fr-FR" dirty="0"/>
              <a:t>Cas d’utilisation : classifier appels système </a:t>
            </a:r>
          </a:p>
        </p:txBody>
      </p:sp>
      <p:sp>
        <p:nvSpPr>
          <p:cNvPr id="3" name="Espace réservé du contenu 2">
            <a:extLst>
              <a:ext uri="{FF2B5EF4-FFF2-40B4-BE49-F238E27FC236}">
                <a16:creationId xmlns:a16="http://schemas.microsoft.com/office/drawing/2014/main" id="{25AD235A-4B10-4E35-9B7F-731AA47BACBF}"/>
              </a:ext>
            </a:extLst>
          </p:cNvPr>
          <p:cNvSpPr>
            <a:spLocks noGrp="1"/>
          </p:cNvSpPr>
          <p:nvPr>
            <p:ph idx="1"/>
          </p:nvPr>
        </p:nvSpPr>
        <p:spPr/>
        <p:txBody>
          <a:bodyPr/>
          <a:lstStyle/>
          <a:p>
            <a:pPr marL="0" indent="0">
              <a:buNone/>
            </a:pPr>
            <a:r>
              <a:rPr lang="fr-FR" dirty="0"/>
              <a:t>Description : classe les appels système par catégorie </a:t>
            </a:r>
          </a:p>
          <a:p>
            <a:pPr marL="0" indent="0">
              <a:buNone/>
            </a:pPr>
            <a:r>
              <a:rPr lang="fr-FR" dirty="0"/>
              <a:t>Acteur : kernel </a:t>
            </a:r>
          </a:p>
          <a:p>
            <a:pPr marL="0" indent="0">
              <a:buNone/>
            </a:pPr>
            <a:r>
              <a:rPr lang="fr-FR" dirty="0"/>
              <a:t>Précondition : appels capturés </a:t>
            </a:r>
          </a:p>
          <a:p>
            <a:pPr marL="0" indent="0">
              <a:buNone/>
            </a:pPr>
            <a:r>
              <a:rPr lang="fr-FR" dirty="0"/>
              <a:t>Postcondition : appels système organisés par catégorie </a:t>
            </a:r>
          </a:p>
          <a:p>
            <a:pPr marL="0" indent="0">
              <a:buNone/>
            </a:pPr>
            <a:r>
              <a:rPr lang="fr-FR" dirty="0"/>
              <a:t>Scénario principal :  </a:t>
            </a:r>
          </a:p>
          <a:p>
            <a:pPr marL="0" indent="0">
              <a:buNone/>
            </a:pPr>
            <a:r>
              <a:rPr lang="fr-FR" dirty="0"/>
              <a:t>-	Le système analyse le type d’appel</a:t>
            </a:r>
          </a:p>
          <a:p>
            <a:pPr marL="0" indent="0">
              <a:buNone/>
            </a:pPr>
            <a:r>
              <a:rPr lang="fr-FR" dirty="0"/>
              <a:t>-	Il l’associe à une catégorie </a:t>
            </a:r>
          </a:p>
          <a:p>
            <a:pPr marL="0" indent="0">
              <a:buNone/>
            </a:pPr>
            <a:endParaRPr lang="fr-FR" dirty="0"/>
          </a:p>
        </p:txBody>
      </p:sp>
    </p:spTree>
    <p:extLst>
      <p:ext uri="{BB962C8B-B14F-4D97-AF65-F5344CB8AC3E}">
        <p14:creationId xmlns:p14="http://schemas.microsoft.com/office/powerpoint/2010/main" val="3150238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8C12AC-2D8E-4142-AA7F-1808B0E93CFE}"/>
              </a:ext>
            </a:extLst>
          </p:cNvPr>
          <p:cNvSpPr>
            <a:spLocks noGrp="1"/>
          </p:cNvSpPr>
          <p:nvPr>
            <p:ph type="title"/>
          </p:nvPr>
        </p:nvSpPr>
        <p:spPr/>
        <p:txBody>
          <a:bodyPr/>
          <a:lstStyle/>
          <a:p>
            <a:r>
              <a:rPr lang="fr-FR" dirty="0"/>
              <a:t>diagramme de cas d’utilisation global</a:t>
            </a:r>
          </a:p>
        </p:txBody>
      </p:sp>
      <p:pic>
        <p:nvPicPr>
          <p:cNvPr id="62" name="Image 61">
            <a:extLst>
              <a:ext uri="{FF2B5EF4-FFF2-40B4-BE49-F238E27FC236}">
                <a16:creationId xmlns:a16="http://schemas.microsoft.com/office/drawing/2014/main" id="{89EA04AB-0DE1-4BA1-9C7D-A2FBE3B92DF2}"/>
              </a:ext>
            </a:extLst>
          </p:cNvPr>
          <p:cNvPicPr>
            <a:picLocks noChangeAspect="1"/>
          </p:cNvPicPr>
          <p:nvPr/>
        </p:nvPicPr>
        <p:blipFill>
          <a:blip r:embed="rId2"/>
          <a:stretch>
            <a:fillRect/>
          </a:stretch>
        </p:blipFill>
        <p:spPr>
          <a:xfrm>
            <a:off x="2089701" y="2433736"/>
            <a:ext cx="8047432" cy="4163006"/>
          </a:xfrm>
          <a:prstGeom prst="rect">
            <a:avLst/>
          </a:prstGeom>
        </p:spPr>
      </p:pic>
    </p:spTree>
    <p:extLst>
      <p:ext uri="{BB962C8B-B14F-4D97-AF65-F5344CB8AC3E}">
        <p14:creationId xmlns:p14="http://schemas.microsoft.com/office/powerpoint/2010/main" val="1496690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90F991-130B-456B-B695-2EF6C4A17FFB}"/>
              </a:ext>
            </a:extLst>
          </p:cNvPr>
          <p:cNvSpPr>
            <a:spLocks noGrp="1"/>
          </p:cNvSpPr>
          <p:nvPr>
            <p:ph type="title"/>
          </p:nvPr>
        </p:nvSpPr>
        <p:spPr/>
        <p:txBody>
          <a:bodyPr/>
          <a:lstStyle/>
          <a:p>
            <a:r>
              <a:rPr lang="fr-FR" dirty="0"/>
              <a:t>conclusion</a:t>
            </a:r>
          </a:p>
        </p:txBody>
      </p:sp>
      <p:sp>
        <p:nvSpPr>
          <p:cNvPr id="3" name="Espace réservé du contenu 2">
            <a:extLst>
              <a:ext uri="{FF2B5EF4-FFF2-40B4-BE49-F238E27FC236}">
                <a16:creationId xmlns:a16="http://schemas.microsoft.com/office/drawing/2014/main" id="{CF53C2D6-ADD6-4A21-9BC4-4082B8D1E265}"/>
              </a:ext>
            </a:extLst>
          </p:cNvPr>
          <p:cNvSpPr>
            <a:spLocks noGrp="1"/>
          </p:cNvSpPr>
          <p:nvPr>
            <p:ph idx="1"/>
          </p:nvPr>
        </p:nvSpPr>
        <p:spPr/>
        <p:txBody>
          <a:bodyPr/>
          <a:lstStyle/>
          <a:p>
            <a:pPr marL="0" indent="0">
              <a:lnSpc>
                <a:spcPct val="150000"/>
              </a:lnSpc>
              <a:buNone/>
            </a:pPr>
            <a:r>
              <a:rPr lang="fr-FR" dirty="0"/>
              <a:t>Le dossier d’analyse nous a permis d’avoir un aperçu détaillé du système à concevoir. Toujours en exploitant le langage de modélisation et le processus associé 2TUP, nous poursuivrons par le dossier de conception dans lequel nous représenterons les diagrammes de la branche technique.</a:t>
            </a:r>
          </a:p>
        </p:txBody>
      </p:sp>
    </p:spTree>
    <p:extLst>
      <p:ext uri="{BB962C8B-B14F-4D97-AF65-F5344CB8AC3E}">
        <p14:creationId xmlns:p14="http://schemas.microsoft.com/office/powerpoint/2010/main" val="34999781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lle d’ions">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4615</TotalTime>
  <Words>572</Words>
  <Application>Microsoft Office PowerPoint</Application>
  <PresentationFormat>Grand écran</PresentationFormat>
  <Paragraphs>70</Paragraphs>
  <Slides>12</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12</vt:i4>
      </vt:variant>
    </vt:vector>
  </HeadingPairs>
  <TitlesOfParts>
    <vt:vector size="19" baseType="lpstr">
      <vt:lpstr>Aharoni</vt:lpstr>
      <vt:lpstr>Arial</vt:lpstr>
      <vt:lpstr>Calibri</vt:lpstr>
      <vt:lpstr>Century Gothic</vt:lpstr>
      <vt:lpstr>Times New Roman</vt:lpstr>
      <vt:lpstr>Wingdings 3</vt:lpstr>
      <vt:lpstr>Salle d’ions</vt:lpstr>
      <vt:lpstr>Présentation du dossier d’Analyse </vt:lpstr>
      <vt:lpstr>Plan de la présentation</vt:lpstr>
      <vt:lpstr>INTRODUCTION</vt:lpstr>
      <vt:lpstr>PRESENTATION DES ACTEURS</vt:lpstr>
      <vt:lpstr>Cas d’utilisation</vt:lpstr>
      <vt:lpstr>Cas d’utilisation: s’authentifier</vt:lpstr>
      <vt:lpstr>Cas d’utilisation: consulter Dashboard</vt:lpstr>
      <vt:lpstr>Cas d’utilisation : visualiser statistiques </vt:lpstr>
      <vt:lpstr>Cas d’utilisation :  capturer appels système </vt:lpstr>
      <vt:lpstr>Cas d’utilisation : classifier appels système </vt:lpstr>
      <vt:lpstr>diagramme de cas d’utilisation global</vt:lpstr>
      <vt:lpstr>conclusion</vt:lpstr>
    </vt:vector>
  </TitlesOfParts>
  <Company>CFAO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du dossier d’Analyse </dc:title>
  <dc:creator>Jaja</dc:creator>
  <cp:lastModifiedBy>ravageur</cp:lastModifiedBy>
  <cp:revision>10</cp:revision>
  <dcterms:created xsi:type="dcterms:W3CDTF">2026-01-17T05:35:52Z</dcterms:created>
  <dcterms:modified xsi:type="dcterms:W3CDTF">2026-01-26T21:18:33Z</dcterms:modified>
</cp:coreProperties>
</file>