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
  </p:notesMasterIdLst>
  <p:sldIdLst>
    <p:sldId id="256" r:id="rId2"/>
    <p:sldId id="257" r:id="rId3"/>
    <p:sldId id="260" r:id="rId4"/>
    <p:sldId id="261" r:id="rId5"/>
    <p:sldId id="262" r:id="rId6"/>
    <p:sldId id="263" r:id="rId7"/>
    <p:sldId id="264" r:id="rId8"/>
    <p:sldId id="265"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F296B"/>
    <a:srgbClr val="EAADCF"/>
    <a:srgbClr val="D45B9F"/>
    <a:srgbClr val="4D14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3103C2-9FAA-436B-9D0E-8644E56AF1DD}" type="datetimeFigureOut">
              <a:rPr lang="fr-FR" smtClean="0"/>
              <a:t>26/01/2026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C947A4-D78C-41B9-83BF-AEB4D663FB56}" type="slidenum">
              <a:rPr lang="fr-FR" smtClean="0"/>
              <a:t>‹N°›</a:t>
            </a:fld>
            <a:endParaRPr lang="fr-FR"/>
          </a:p>
        </p:txBody>
      </p:sp>
    </p:spTree>
    <p:extLst>
      <p:ext uri="{BB962C8B-B14F-4D97-AF65-F5344CB8AC3E}">
        <p14:creationId xmlns:p14="http://schemas.microsoft.com/office/powerpoint/2010/main" val="3179128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fr-FR" smtClean="0"/>
              <a:t>Modifiez le style du titre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Modifier le style des sous-titres du masque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1/26/2026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fr-FR" smtClean="0"/>
              <a:t>Modifiez le style du titre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fr-FR" smtClean="0"/>
              <a:t>Modifiez le style du titre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1/26/2026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fr-FR" smtClean="0"/>
              <a:t>Modifiez le style du titre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fr-FR" smtClean="0"/>
              <a:t>Modifiez le style du titre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fr-FR" smtClean="0"/>
              <a:t>Modifiez le style du titre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1/26/2026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1/26/2026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1/26/2026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fr-FR" smtClean="0"/>
              <a:t>Modifiez le style du titre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1/26/2026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‹N°›</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smtClean="0"/>
              <a:t>BIENVENU à cette présentation ayant pour</a:t>
            </a:r>
            <a:endParaRPr lang="fr-FR" dirty="0"/>
          </a:p>
        </p:txBody>
      </p:sp>
      <p:sp>
        <p:nvSpPr>
          <p:cNvPr id="3" name="Sous-titre 2"/>
          <p:cNvSpPr>
            <a:spLocks noGrp="1"/>
          </p:cNvSpPr>
          <p:nvPr>
            <p:ph type="subTitle" idx="1"/>
          </p:nvPr>
        </p:nvSpPr>
        <p:spPr/>
        <p:txBody>
          <a:bodyPr/>
          <a:lstStyle/>
          <a:p>
            <a:r>
              <a:rPr lang="fr-FR" u="sng" dirty="0" smtClean="0"/>
              <a:t>Thème:</a:t>
            </a:r>
            <a:endParaRPr lang="fr-FR" u="sng" dirty="0"/>
          </a:p>
        </p:txBody>
      </p:sp>
      <p:sp>
        <p:nvSpPr>
          <p:cNvPr id="4" name="Titre 1"/>
          <p:cNvSpPr txBox="1">
            <a:spLocks/>
          </p:cNvSpPr>
          <p:nvPr/>
        </p:nvSpPr>
        <p:spPr>
          <a:xfrm>
            <a:off x="781717" y="1654560"/>
            <a:ext cx="10993549" cy="1475013"/>
          </a:xfrm>
          <a:prstGeom prst="rect">
            <a:avLst/>
          </a:prstGeom>
          <a:effectLst/>
        </p:spPr>
        <p:txBody>
          <a:bodyPr vert="horz" lIns="91440" tIns="45720" rIns="91440" bIns="45720" rtlCol="0" anchor="b">
            <a:normAutofit/>
          </a:bodyPr>
          <a:lstStyle>
            <a:lvl1pPr algn="l" defTabSz="457200" rtl="0" eaLnBrk="1" latinLnBrk="0" hangingPunct="1">
              <a:spcBef>
                <a:spcPct val="0"/>
              </a:spcBef>
              <a:buNone/>
              <a:defRPr sz="3600" b="0" kern="1200" cap="all">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fr-FR" dirty="0">
              <a:solidFill>
                <a:schemeClr val="bg1"/>
              </a:solidFill>
            </a:endParaRPr>
          </a:p>
        </p:txBody>
      </p:sp>
      <p:sp>
        <p:nvSpPr>
          <p:cNvPr id="5" name="Rectangle 4"/>
          <p:cNvSpPr/>
          <p:nvPr/>
        </p:nvSpPr>
        <p:spPr>
          <a:xfrm>
            <a:off x="781717" y="3914275"/>
            <a:ext cx="9319230" cy="1446550"/>
          </a:xfrm>
          <a:prstGeom prst="rect">
            <a:avLst/>
          </a:prstGeom>
        </p:spPr>
        <p:txBody>
          <a:bodyPr wrap="square">
            <a:spAutoFit/>
          </a:bodyPr>
          <a:lstStyle/>
          <a:p>
            <a:r>
              <a:rPr lang="fr-FR" sz="2800" dirty="0" smtClean="0">
                <a:solidFill>
                  <a:schemeClr val="bg1"/>
                </a:solidFill>
              </a:rPr>
              <a:t>Conception et Mise en œuvre d’un system call monitor, un moniteur </a:t>
            </a:r>
            <a:r>
              <a:rPr lang="fr-FR" sz="3200" dirty="0" smtClean="0">
                <a:solidFill>
                  <a:schemeClr val="bg1"/>
                </a:solidFill>
              </a:rPr>
              <a:t>d’appels</a:t>
            </a:r>
            <a:r>
              <a:rPr lang="fr-FR" sz="2800" dirty="0" smtClean="0">
                <a:solidFill>
                  <a:schemeClr val="bg1"/>
                </a:solidFill>
              </a:rPr>
              <a:t> système temps réel:</a:t>
            </a:r>
          </a:p>
          <a:p>
            <a:r>
              <a:rPr lang="fr-FR" sz="2800" dirty="0" smtClean="0">
                <a:solidFill>
                  <a:schemeClr val="bg1"/>
                </a:solidFill>
              </a:rPr>
              <a:t>Cas de Linux </a:t>
            </a:r>
            <a:r>
              <a:rPr lang="fr-FR" sz="2800" dirty="0" err="1" smtClean="0">
                <a:solidFill>
                  <a:schemeClr val="bg1"/>
                </a:solidFill>
              </a:rPr>
              <a:t>Mint</a:t>
            </a:r>
            <a:endParaRPr lang="fr-FR" sz="2800" dirty="0" smtClean="0">
              <a:solidFill>
                <a:schemeClr val="bg1"/>
              </a:solidFill>
            </a:endParaRPr>
          </a:p>
        </p:txBody>
      </p:sp>
    </p:spTree>
    <p:extLst>
      <p:ext uri="{BB962C8B-B14F-4D97-AF65-F5344CB8AC3E}">
        <p14:creationId xmlns:p14="http://schemas.microsoft.com/office/powerpoint/2010/main" val="374361955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randombar(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75000"/>
                <a:lumOff val="25000"/>
              </a:schemeClr>
            </a:gs>
            <a:gs pos="74000">
              <a:schemeClr val="accent1">
                <a:lumMod val="50000"/>
                <a:lumOff val="50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Plan du devoir</a:t>
            </a:r>
            <a:endParaRPr lang="fr-FR" dirty="0"/>
          </a:p>
        </p:txBody>
      </p:sp>
      <p:grpSp>
        <p:nvGrpSpPr>
          <p:cNvPr id="58" name="Groupe 57"/>
          <p:cNvGrpSpPr/>
          <p:nvPr/>
        </p:nvGrpSpPr>
        <p:grpSpPr>
          <a:xfrm>
            <a:off x="-4055350" y="2544066"/>
            <a:ext cx="3858127" cy="1030126"/>
            <a:chOff x="1475874" y="2723592"/>
            <a:chExt cx="3858127" cy="1030126"/>
          </a:xfrm>
        </p:grpSpPr>
        <p:sp>
          <p:nvSpPr>
            <p:cNvPr id="38" name="Forme libre 37"/>
            <p:cNvSpPr/>
            <p:nvPr/>
          </p:nvSpPr>
          <p:spPr>
            <a:xfrm>
              <a:off x="4302527" y="2723592"/>
              <a:ext cx="1031474" cy="1012024"/>
            </a:xfrm>
            <a:custGeom>
              <a:avLst/>
              <a:gdLst>
                <a:gd name="connsiteX0" fmla="*/ 613607 w 1031474"/>
                <a:gd name="connsiteY0" fmla="*/ 0 h 1012024"/>
                <a:gd name="connsiteX1" fmla="*/ 862800 w 1031474"/>
                <a:gd name="connsiteY1" fmla="*/ 0 h 1012024"/>
                <a:gd name="connsiteX2" fmla="*/ 1031474 w 1031474"/>
                <a:gd name="connsiteY2" fmla="*/ 168674 h 1012024"/>
                <a:gd name="connsiteX3" fmla="*/ 1031474 w 1031474"/>
                <a:gd name="connsiteY3" fmla="*/ 843350 h 1012024"/>
                <a:gd name="connsiteX4" fmla="*/ 862800 w 1031474"/>
                <a:gd name="connsiteY4" fmla="*/ 1012024 h 1012024"/>
                <a:gd name="connsiteX5" fmla="*/ 0 w 1031474"/>
                <a:gd name="connsiteY5" fmla="*/ 1012024 h 1012024"/>
                <a:gd name="connsiteX6" fmla="*/ 27697 w 1031474"/>
                <a:gd name="connsiteY6" fmla="*/ 902726 h 1012024"/>
                <a:gd name="connsiteX7" fmla="*/ 507969 w 1031474"/>
                <a:gd name="connsiteY7" fmla="*/ 97415 h 1012024"/>
                <a:gd name="connsiteX8" fmla="*/ 613607 w 1031474"/>
                <a:gd name="connsiteY8" fmla="*/ 0 h 1012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1474" h="1012024">
                  <a:moveTo>
                    <a:pt x="613607" y="0"/>
                  </a:moveTo>
                  <a:lnTo>
                    <a:pt x="862800" y="0"/>
                  </a:lnTo>
                  <a:cubicBezTo>
                    <a:pt x="955956" y="0"/>
                    <a:pt x="1031474" y="75518"/>
                    <a:pt x="1031474" y="168674"/>
                  </a:cubicBezTo>
                  <a:lnTo>
                    <a:pt x="1031474" y="843350"/>
                  </a:lnTo>
                  <a:cubicBezTo>
                    <a:pt x="1031474" y="936506"/>
                    <a:pt x="955956" y="1012024"/>
                    <a:pt x="862800" y="1012024"/>
                  </a:cubicBezTo>
                  <a:lnTo>
                    <a:pt x="0" y="1012024"/>
                  </a:lnTo>
                  <a:lnTo>
                    <a:pt x="27697" y="902726"/>
                  </a:lnTo>
                  <a:cubicBezTo>
                    <a:pt x="122027" y="595009"/>
                    <a:pt x="288879" y="319711"/>
                    <a:pt x="507969" y="97415"/>
                  </a:cubicBezTo>
                  <a:lnTo>
                    <a:pt x="613607"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Forme libre 30"/>
            <p:cNvSpPr/>
            <p:nvPr/>
          </p:nvSpPr>
          <p:spPr>
            <a:xfrm>
              <a:off x="1475874" y="2723592"/>
              <a:ext cx="3440260" cy="1012024"/>
            </a:xfrm>
            <a:custGeom>
              <a:avLst/>
              <a:gdLst>
                <a:gd name="connsiteX0" fmla="*/ 168674 w 3440260"/>
                <a:gd name="connsiteY0" fmla="*/ 0 h 1012024"/>
                <a:gd name="connsiteX1" fmla="*/ 3440260 w 3440260"/>
                <a:gd name="connsiteY1" fmla="*/ 0 h 1012024"/>
                <a:gd name="connsiteX2" fmla="*/ 3334622 w 3440260"/>
                <a:gd name="connsiteY2" fmla="*/ 97415 h 1012024"/>
                <a:gd name="connsiteX3" fmla="*/ 2854350 w 3440260"/>
                <a:gd name="connsiteY3" fmla="*/ 902726 h 1012024"/>
                <a:gd name="connsiteX4" fmla="*/ 2826653 w 3440260"/>
                <a:gd name="connsiteY4" fmla="*/ 1012024 h 1012024"/>
                <a:gd name="connsiteX5" fmla="*/ 168674 w 3440260"/>
                <a:gd name="connsiteY5" fmla="*/ 1012024 h 1012024"/>
                <a:gd name="connsiteX6" fmla="*/ 0 w 3440260"/>
                <a:gd name="connsiteY6" fmla="*/ 843350 h 1012024"/>
                <a:gd name="connsiteX7" fmla="*/ 0 w 3440260"/>
                <a:gd name="connsiteY7" fmla="*/ 168674 h 1012024"/>
                <a:gd name="connsiteX8" fmla="*/ 168674 w 3440260"/>
                <a:gd name="connsiteY8" fmla="*/ 0 h 1012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40260" h="1012024">
                  <a:moveTo>
                    <a:pt x="168674" y="0"/>
                  </a:moveTo>
                  <a:lnTo>
                    <a:pt x="3440260" y="0"/>
                  </a:lnTo>
                  <a:lnTo>
                    <a:pt x="3334622" y="97415"/>
                  </a:lnTo>
                  <a:cubicBezTo>
                    <a:pt x="3115532" y="319711"/>
                    <a:pt x="2948680" y="595009"/>
                    <a:pt x="2854350" y="902726"/>
                  </a:cubicBezTo>
                  <a:lnTo>
                    <a:pt x="2826653" y="1012024"/>
                  </a:lnTo>
                  <a:lnTo>
                    <a:pt x="168674" y="1012024"/>
                  </a:lnTo>
                  <a:cubicBezTo>
                    <a:pt x="75518" y="1012024"/>
                    <a:pt x="0" y="936506"/>
                    <a:pt x="0" y="843350"/>
                  </a:cubicBezTo>
                  <a:lnTo>
                    <a:pt x="0" y="168674"/>
                  </a:lnTo>
                  <a:cubicBezTo>
                    <a:pt x="0" y="75518"/>
                    <a:pt x="75518" y="0"/>
                    <a:pt x="168674" y="0"/>
                  </a:cubicBezTo>
                  <a:close/>
                </a:path>
              </a:pathLst>
            </a:cu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a:noFill/>
            </a:ln>
            <a:effectLst>
              <a:outerShdw blurRad="292100" dir="5400000" algn="ctr" rotWithShape="0">
                <a:srgbClr val="000000">
                  <a:alpha val="5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smtClean="0">
                  <a:solidFill>
                    <a:schemeClr val="tx1"/>
                  </a:solidFill>
                  <a:latin typeface="Agency FB" panose="020B0503020202020204" pitchFamily="34" charset="0"/>
                </a:rPr>
                <a:t>CONTRAINTE ET LIVRABLE DU PROJET</a:t>
              </a:r>
            </a:p>
          </p:txBody>
        </p:sp>
        <p:sp>
          <p:nvSpPr>
            <p:cNvPr id="45" name="Rectangle 44"/>
            <p:cNvSpPr/>
            <p:nvPr/>
          </p:nvSpPr>
          <p:spPr>
            <a:xfrm>
              <a:off x="4693626" y="2830388"/>
              <a:ext cx="445016" cy="923330"/>
            </a:xfrm>
            <a:prstGeom prst="rect">
              <a:avLst/>
            </a:prstGeom>
            <a:noFill/>
          </p:spPr>
          <p:txBody>
            <a:bodyPr wrap="square" lIns="91440" tIns="45720" rIns="91440" bIns="45720">
              <a:spAutoFit/>
            </a:bodyPr>
            <a:lstStyle/>
            <a:p>
              <a:pPr algn="ctr"/>
              <a:r>
                <a:rPr lang="fr-FR" sz="5400" b="1" dirty="0" smtClean="0">
                  <a:ln w="6600">
                    <a:solidFill>
                      <a:schemeClr val="accent2"/>
                    </a:solidFill>
                    <a:prstDash val="solid"/>
                  </a:ln>
                  <a:solidFill>
                    <a:srgbClr val="FFFFFF"/>
                  </a:solidFill>
                  <a:effectLst>
                    <a:outerShdw dist="38100" dir="2700000" algn="tl" rotWithShape="0">
                      <a:schemeClr val="accent2"/>
                    </a:outerShdw>
                  </a:effectLst>
                </a:rPr>
                <a:t>6</a:t>
              </a:r>
              <a:endParaRPr lang="fr-FR" sz="54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46" name="Bouton d’action : Suivant 45">
              <a:hlinkClick r:id="" action="ppaction://hlinkshowjump?jump=nextslide" highlightClick="1"/>
            </p:cNvPr>
            <p:cNvSpPr/>
            <p:nvPr/>
          </p:nvSpPr>
          <p:spPr>
            <a:xfrm>
              <a:off x="1576519" y="3418123"/>
              <a:ext cx="261256" cy="217696"/>
            </a:xfrm>
            <a:prstGeom prst="actionButtonForwardNex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 name="Groupe 56"/>
          <p:cNvGrpSpPr/>
          <p:nvPr/>
        </p:nvGrpSpPr>
        <p:grpSpPr>
          <a:xfrm>
            <a:off x="12343583" y="2679717"/>
            <a:ext cx="3858127" cy="1012024"/>
            <a:chOff x="7194885" y="2757595"/>
            <a:chExt cx="3858127" cy="1012024"/>
          </a:xfrm>
        </p:grpSpPr>
        <p:sp>
          <p:nvSpPr>
            <p:cNvPr id="37" name="Forme libre 36"/>
            <p:cNvSpPr/>
            <p:nvPr/>
          </p:nvSpPr>
          <p:spPr>
            <a:xfrm>
              <a:off x="7194885" y="2757595"/>
              <a:ext cx="871648" cy="1012024"/>
            </a:xfrm>
            <a:custGeom>
              <a:avLst/>
              <a:gdLst>
                <a:gd name="connsiteX0" fmla="*/ 168674 w 871648"/>
                <a:gd name="connsiteY0" fmla="*/ 0 h 1012024"/>
                <a:gd name="connsiteX1" fmla="*/ 286297 w 871648"/>
                <a:gd name="connsiteY1" fmla="*/ 0 h 1012024"/>
                <a:gd name="connsiteX2" fmla="*/ 355061 w 871648"/>
                <a:gd name="connsiteY2" fmla="*/ 63412 h 1012024"/>
                <a:gd name="connsiteX3" fmla="*/ 835333 w 871648"/>
                <a:gd name="connsiteY3" fmla="*/ 868723 h 1012024"/>
                <a:gd name="connsiteX4" fmla="*/ 871648 w 871648"/>
                <a:gd name="connsiteY4" fmla="*/ 1012024 h 1012024"/>
                <a:gd name="connsiteX5" fmla="*/ 168674 w 871648"/>
                <a:gd name="connsiteY5" fmla="*/ 1012024 h 1012024"/>
                <a:gd name="connsiteX6" fmla="*/ 0 w 871648"/>
                <a:gd name="connsiteY6" fmla="*/ 843350 h 1012024"/>
                <a:gd name="connsiteX7" fmla="*/ 0 w 871648"/>
                <a:gd name="connsiteY7" fmla="*/ 168674 h 1012024"/>
                <a:gd name="connsiteX8" fmla="*/ 168674 w 871648"/>
                <a:gd name="connsiteY8" fmla="*/ 0 h 1012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1648" h="1012024">
                  <a:moveTo>
                    <a:pt x="168674" y="0"/>
                  </a:moveTo>
                  <a:lnTo>
                    <a:pt x="286297" y="0"/>
                  </a:lnTo>
                  <a:lnTo>
                    <a:pt x="355061" y="63412"/>
                  </a:lnTo>
                  <a:cubicBezTo>
                    <a:pt x="574151" y="285708"/>
                    <a:pt x="741003" y="561006"/>
                    <a:pt x="835333" y="868723"/>
                  </a:cubicBezTo>
                  <a:lnTo>
                    <a:pt x="871648" y="1012024"/>
                  </a:lnTo>
                  <a:lnTo>
                    <a:pt x="168674" y="1012024"/>
                  </a:lnTo>
                  <a:cubicBezTo>
                    <a:pt x="75518" y="1012024"/>
                    <a:pt x="0" y="936506"/>
                    <a:pt x="0" y="843350"/>
                  </a:cubicBezTo>
                  <a:lnTo>
                    <a:pt x="0" y="168674"/>
                  </a:lnTo>
                  <a:cubicBezTo>
                    <a:pt x="0" y="75518"/>
                    <a:pt x="75518" y="0"/>
                    <a:pt x="168674" y="0"/>
                  </a:cubicBezTo>
                  <a:close/>
                </a:path>
              </a:pathLst>
            </a:cu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Forme libre 29"/>
            <p:cNvSpPr/>
            <p:nvPr/>
          </p:nvSpPr>
          <p:spPr>
            <a:xfrm>
              <a:off x="7481182" y="2757595"/>
              <a:ext cx="3571830" cy="1012024"/>
            </a:xfrm>
            <a:custGeom>
              <a:avLst/>
              <a:gdLst>
                <a:gd name="connsiteX0" fmla="*/ 0 w 3571830"/>
                <a:gd name="connsiteY0" fmla="*/ 0 h 1012024"/>
                <a:gd name="connsiteX1" fmla="*/ 3403156 w 3571830"/>
                <a:gd name="connsiteY1" fmla="*/ 0 h 1012024"/>
                <a:gd name="connsiteX2" fmla="*/ 3571830 w 3571830"/>
                <a:gd name="connsiteY2" fmla="*/ 168674 h 1012024"/>
                <a:gd name="connsiteX3" fmla="*/ 3571830 w 3571830"/>
                <a:gd name="connsiteY3" fmla="*/ 843350 h 1012024"/>
                <a:gd name="connsiteX4" fmla="*/ 3403156 w 3571830"/>
                <a:gd name="connsiteY4" fmla="*/ 1012024 h 1012024"/>
                <a:gd name="connsiteX5" fmla="*/ 585351 w 3571830"/>
                <a:gd name="connsiteY5" fmla="*/ 1012024 h 1012024"/>
                <a:gd name="connsiteX6" fmla="*/ 549036 w 3571830"/>
                <a:gd name="connsiteY6" fmla="*/ 868723 h 1012024"/>
                <a:gd name="connsiteX7" fmla="*/ 68764 w 3571830"/>
                <a:gd name="connsiteY7" fmla="*/ 63412 h 1012024"/>
                <a:gd name="connsiteX8" fmla="*/ 0 w 3571830"/>
                <a:gd name="connsiteY8" fmla="*/ 0 h 1012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71830" h="1012024">
                  <a:moveTo>
                    <a:pt x="0" y="0"/>
                  </a:moveTo>
                  <a:lnTo>
                    <a:pt x="3403156" y="0"/>
                  </a:lnTo>
                  <a:cubicBezTo>
                    <a:pt x="3496312" y="0"/>
                    <a:pt x="3571830" y="75518"/>
                    <a:pt x="3571830" y="168674"/>
                  </a:cubicBezTo>
                  <a:lnTo>
                    <a:pt x="3571830" y="843350"/>
                  </a:lnTo>
                  <a:cubicBezTo>
                    <a:pt x="3571830" y="936506"/>
                    <a:pt x="3496312" y="1012024"/>
                    <a:pt x="3403156" y="1012024"/>
                  </a:cubicBezTo>
                  <a:lnTo>
                    <a:pt x="585351" y="1012024"/>
                  </a:lnTo>
                  <a:lnTo>
                    <a:pt x="549036" y="868723"/>
                  </a:lnTo>
                  <a:cubicBezTo>
                    <a:pt x="454706" y="561006"/>
                    <a:pt x="287854" y="285708"/>
                    <a:pt x="68764" y="63412"/>
                  </a:cubicBezTo>
                  <a:lnTo>
                    <a:pt x="0" y="0"/>
                  </a:lnTo>
                  <a:close/>
                </a:path>
              </a:pathLst>
            </a:cu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a:noFill/>
            </a:ln>
            <a:effectLst>
              <a:outerShdw blurRad="292100" dir="5400000" algn="ctr" rotWithShape="0">
                <a:srgbClr val="000000">
                  <a:alpha val="5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dirty="0" smtClean="0">
                  <a:solidFill>
                    <a:schemeClr val="tx1">
                      <a:lumMod val="95000"/>
                      <a:lumOff val="5000"/>
                    </a:schemeClr>
                  </a:solidFill>
                  <a:latin typeface="Agency FB" panose="020B0503020202020204" pitchFamily="34" charset="0"/>
                </a:rPr>
                <a:t>INTRODUCTION</a:t>
              </a:r>
              <a:endParaRPr lang="fr-FR" dirty="0">
                <a:solidFill>
                  <a:schemeClr val="tx1">
                    <a:lumMod val="95000"/>
                    <a:lumOff val="5000"/>
                  </a:schemeClr>
                </a:solidFill>
                <a:latin typeface="Agency FB" panose="020B0503020202020204" pitchFamily="34" charset="0"/>
              </a:endParaRPr>
            </a:p>
          </p:txBody>
        </p:sp>
        <p:sp>
          <p:nvSpPr>
            <p:cNvPr id="40" name="Rectangle 39"/>
            <p:cNvSpPr/>
            <p:nvPr/>
          </p:nvSpPr>
          <p:spPr>
            <a:xfrm>
              <a:off x="7297771" y="2830388"/>
              <a:ext cx="445016" cy="923330"/>
            </a:xfrm>
            <a:prstGeom prst="rect">
              <a:avLst/>
            </a:prstGeom>
            <a:noFill/>
          </p:spPr>
          <p:txBody>
            <a:bodyPr wrap="square" lIns="91440" tIns="45720" rIns="91440" bIns="45720">
              <a:spAutoFit/>
            </a:bodyPr>
            <a:lstStyle/>
            <a:p>
              <a:pPr algn="ctr"/>
              <a:r>
                <a:rPr lang="fr-FR" sz="5400" b="1" cap="none" spc="0" dirty="0" smtClean="0">
                  <a:ln w="6600">
                    <a:solidFill>
                      <a:schemeClr val="accent2"/>
                    </a:solidFill>
                    <a:prstDash val="solid"/>
                  </a:ln>
                  <a:solidFill>
                    <a:srgbClr val="FFFFFF"/>
                  </a:solidFill>
                  <a:effectLst>
                    <a:outerShdw dist="38100" dir="2700000" algn="tl" rotWithShape="0">
                      <a:schemeClr val="accent2"/>
                    </a:outerShdw>
                  </a:effectLst>
                </a:rPr>
                <a:t>1</a:t>
              </a:r>
              <a:endParaRPr lang="fr-FR" sz="54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47" name="Bouton d'action : Précédent 46">
              <a:hlinkClick r:id="" action="ppaction://hlinkshowjump?jump=previousslide" highlightClick="1"/>
            </p:cNvPr>
            <p:cNvSpPr/>
            <p:nvPr/>
          </p:nvSpPr>
          <p:spPr>
            <a:xfrm>
              <a:off x="10598332" y="3418123"/>
              <a:ext cx="252548" cy="217696"/>
            </a:xfrm>
            <a:prstGeom prst="actionButtonBackPreviou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9" name="Groupe 58"/>
          <p:cNvGrpSpPr/>
          <p:nvPr/>
        </p:nvGrpSpPr>
        <p:grpSpPr>
          <a:xfrm>
            <a:off x="-4047328" y="4899170"/>
            <a:ext cx="3850105" cy="1122716"/>
            <a:chOff x="1483896" y="4892171"/>
            <a:chExt cx="3850105" cy="1122716"/>
          </a:xfrm>
        </p:grpSpPr>
        <p:sp>
          <p:nvSpPr>
            <p:cNvPr id="34" name="Forme libre 33"/>
            <p:cNvSpPr/>
            <p:nvPr/>
          </p:nvSpPr>
          <p:spPr>
            <a:xfrm>
              <a:off x="4416473" y="5020276"/>
              <a:ext cx="917528" cy="935993"/>
            </a:xfrm>
            <a:custGeom>
              <a:avLst/>
              <a:gdLst>
                <a:gd name="connsiteX0" fmla="*/ 0 w 917528"/>
                <a:gd name="connsiteY0" fmla="*/ 0 h 935993"/>
                <a:gd name="connsiteX1" fmla="*/ 751756 w 917528"/>
                <a:gd name="connsiteY1" fmla="*/ 0 h 935993"/>
                <a:gd name="connsiteX2" fmla="*/ 917528 w 917528"/>
                <a:gd name="connsiteY2" fmla="*/ 165772 h 935993"/>
                <a:gd name="connsiteX3" fmla="*/ 917528 w 917528"/>
                <a:gd name="connsiteY3" fmla="*/ 828839 h 935993"/>
                <a:gd name="connsiteX4" fmla="*/ 904501 w 917528"/>
                <a:gd name="connsiteY4" fmla="*/ 893365 h 935993"/>
                <a:gd name="connsiteX5" fmla="*/ 875760 w 917528"/>
                <a:gd name="connsiteY5" fmla="*/ 935993 h 935993"/>
                <a:gd name="connsiteX6" fmla="*/ 840419 w 917528"/>
                <a:gd name="connsiteY6" fmla="*/ 918719 h 935993"/>
                <a:gd name="connsiteX7" fmla="*/ 60460 w 917528"/>
                <a:gd name="connsiteY7" fmla="*/ 127345 h 935993"/>
                <a:gd name="connsiteX8" fmla="*/ 0 w 917528"/>
                <a:gd name="connsiteY8" fmla="*/ 0 h 935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528" h="935993">
                  <a:moveTo>
                    <a:pt x="0" y="0"/>
                  </a:moveTo>
                  <a:lnTo>
                    <a:pt x="751756" y="0"/>
                  </a:lnTo>
                  <a:cubicBezTo>
                    <a:pt x="843309" y="0"/>
                    <a:pt x="917528" y="74219"/>
                    <a:pt x="917528" y="165772"/>
                  </a:cubicBezTo>
                  <a:lnTo>
                    <a:pt x="917528" y="828839"/>
                  </a:lnTo>
                  <a:cubicBezTo>
                    <a:pt x="917528" y="851727"/>
                    <a:pt x="912890" y="873532"/>
                    <a:pt x="904501" y="893365"/>
                  </a:cubicBezTo>
                  <a:lnTo>
                    <a:pt x="875760" y="935993"/>
                  </a:lnTo>
                  <a:lnTo>
                    <a:pt x="840419" y="918719"/>
                  </a:lnTo>
                  <a:cubicBezTo>
                    <a:pt x="511053" y="737178"/>
                    <a:pt x="239382" y="461532"/>
                    <a:pt x="60460" y="127345"/>
                  </a:cubicBezTo>
                  <a:lnTo>
                    <a:pt x="0"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Forme libre 26"/>
            <p:cNvSpPr/>
            <p:nvPr/>
          </p:nvSpPr>
          <p:spPr>
            <a:xfrm>
              <a:off x="1483896" y="5020276"/>
              <a:ext cx="3808337" cy="994611"/>
            </a:xfrm>
            <a:custGeom>
              <a:avLst/>
              <a:gdLst>
                <a:gd name="connsiteX0" fmla="*/ 165772 w 3808337"/>
                <a:gd name="connsiteY0" fmla="*/ 0 h 994611"/>
                <a:gd name="connsiteX1" fmla="*/ 2932577 w 3808337"/>
                <a:gd name="connsiteY1" fmla="*/ 0 h 994611"/>
                <a:gd name="connsiteX2" fmla="*/ 2993037 w 3808337"/>
                <a:gd name="connsiteY2" fmla="*/ 127345 h 994611"/>
                <a:gd name="connsiteX3" fmla="*/ 3772996 w 3808337"/>
                <a:gd name="connsiteY3" fmla="*/ 918719 h 994611"/>
                <a:gd name="connsiteX4" fmla="*/ 3808337 w 3808337"/>
                <a:gd name="connsiteY4" fmla="*/ 935993 h 994611"/>
                <a:gd name="connsiteX5" fmla="*/ 3801551 w 3808337"/>
                <a:gd name="connsiteY5" fmla="*/ 946057 h 994611"/>
                <a:gd name="connsiteX6" fmla="*/ 3684333 w 3808337"/>
                <a:gd name="connsiteY6" fmla="*/ 994611 h 994611"/>
                <a:gd name="connsiteX7" fmla="*/ 165772 w 3808337"/>
                <a:gd name="connsiteY7" fmla="*/ 994611 h 994611"/>
                <a:gd name="connsiteX8" fmla="*/ 0 w 3808337"/>
                <a:gd name="connsiteY8" fmla="*/ 828839 h 994611"/>
                <a:gd name="connsiteX9" fmla="*/ 0 w 3808337"/>
                <a:gd name="connsiteY9" fmla="*/ 165772 h 994611"/>
                <a:gd name="connsiteX10" fmla="*/ 165772 w 3808337"/>
                <a:gd name="connsiteY10" fmla="*/ 0 h 994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08337" h="994611">
                  <a:moveTo>
                    <a:pt x="165772" y="0"/>
                  </a:moveTo>
                  <a:lnTo>
                    <a:pt x="2932577" y="0"/>
                  </a:lnTo>
                  <a:lnTo>
                    <a:pt x="2993037" y="127345"/>
                  </a:lnTo>
                  <a:cubicBezTo>
                    <a:pt x="3171959" y="461532"/>
                    <a:pt x="3443630" y="737178"/>
                    <a:pt x="3772996" y="918719"/>
                  </a:cubicBezTo>
                  <a:lnTo>
                    <a:pt x="3808337" y="935993"/>
                  </a:lnTo>
                  <a:lnTo>
                    <a:pt x="3801551" y="946057"/>
                  </a:lnTo>
                  <a:cubicBezTo>
                    <a:pt x="3771553" y="976056"/>
                    <a:pt x="3730110" y="994611"/>
                    <a:pt x="3684333" y="994611"/>
                  </a:cubicBezTo>
                  <a:lnTo>
                    <a:pt x="165772" y="994611"/>
                  </a:lnTo>
                  <a:cubicBezTo>
                    <a:pt x="74219" y="994611"/>
                    <a:pt x="0" y="920392"/>
                    <a:pt x="0" y="828839"/>
                  </a:cubicBezTo>
                  <a:lnTo>
                    <a:pt x="0" y="165772"/>
                  </a:lnTo>
                  <a:cubicBezTo>
                    <a:pt x="0" y="74219"/>
                    <a:pt x="74219" y="0"/>
                    <a:pt x="165772" y="0"/>
                  </a:cubicBezTo>
                  <a:close/>
                </a:path>
              </a:pathLst>
            </a:cu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a:noFill/>
            </a:ln>
            <a:effectLst>
              <a:outerShdw blurRad="292100" dir="5400000" algn="ctr" rotWithShape="0">
                <a:srgbClr val="000000">
                  <a:alpha val="5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dirty="0" smtClean="0">
                  <a:solidFill>
                    <a:schemeClr val="tx1"/>
                  </a:solidFill>
                  <a:latin typeface="Agency FB" panose="020B0503020202020204" pitchFamily="34" charset="0"/>
                </a:rPr>
                <a:t>INTERVENANTS</a:t>
              </a:r>
              <a:endParaRPr lang="fr-FR" dirty="0">
                <a:solidFill>
                  <a:schemeClr val="tx1"/>
                </a:solidFill>
                <a:latin typeface="Agency FB" panose="020B0503020202020204" pitchFamily="34" charset="0"/>
              </a:endParaRPr>
            </a:p>
          </p:txBody>
        </p:sp>
        <p:sp>
          <p:nvSpPr>
            <p:cNvPr id="43" name="Rectangle 42"/>
            <p:cNvSpPr/>
            <p:nvPr/>
          </p:nvSpPr>
          <p:spPr>
            <a:xfrm>
              <a:off x="4818264" y="4892171"/>
              <a:ext cx="445016" cy="923330"/>
            </a:xfrm>
            <a:prstGeom prst="rect">
              <a:avLst/>
            </a:prstGeom>
            <a:noFill/>
          </p:spPr>
          <p:txBody>
            <a:bodyPr wrap="square" lIns="91440" tIns="45720" rIns="91440" bIns="45720">
              <a:spAutoFit/>
            </a:bodyPr>
            <a:lstStyle/>
            <a:p>
              <a:pPr algn="ctr"/>
              <a:r>
                <a:rPr lang="fr-FR" sz="5400" b="1" dirty="0" smtClean="0">
                  <a:ln w="6600">
                    <a:solidFill>
                      <a:schemeClr val="accent2"/>
                    </a:solidFill>
                    <a:prstDash val="solid"/>
                  </a:ln>
                  <a:solidFill>
                    <a:srgbClr val="FFFFFF"/>
                  </a:solidFill>
                  <a:effectLst>
                    <a:outerShdw dist="38100" dir="2700000" algn="tl" rotWithShape="0">
                      <a:schemeClr val="accent2"/>
                    </a:outerShdw>
                  </a:effectLst>
                </a:rPr>
                <a:t>4</a:t>
              </a:r>
              <a:endParaRPr lang="fr-FR" sz="54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48" name="Étoile à 4 branches 47"/>
            <p:cNvSpPr/>
            <p:nvPr/>
          </p:nvSpPr>
          <p:spPr>
            <a:xfrm>
              <a:off x="1576519" y="5815501"/>
              <a:ext cx="130628" cy="140768"/>
            </a:xfrm>
            <a:prstGeom prst="star4">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6" name="Groupe 55"/>
          <p:cNvGrpSpPr/>
          <p:nvPr/>
        </p:nvGrpSpPr>
        <p:grpSpPr>
          <a:xfrm>
            <a:off x="12334391" y="5033881"/>
            <a:ext cx="3859297" cy="1076106"/>
            <a:chOff x="7185693" y="4955682"/>
            <a:chExt cx="3859297" cy="1076106"/>
          </a:xfrm>
        </p:grpSpPr>
        <p:sp>
          <p:nvSpPr>
            <p:cNvPr id="26" name="Forme libre 25"/>
            <p:cNvSpPr/>
            <p:nvPr/>
          </p:nvSpPr>
          <p:spPr>
            <a:xfrm>
              <a:off x="7197880" y="5037177"/>
              <a:ext cx="3847110" cy="994611"/>
            </a:xfrm>
            <a:custGeom>
              <a:avLst/>
              <a:gdLst>
                <a:gd name="connsiteX0" fmla="*/ 738066 w 3847110"/>
                <a:gd name="connsiteY0" fmla="*/ 0 h 994611"/>
                <a:gd name="connsiteX1" fmla="*/ 3681338 w 3847110"/>
                <a:gd name="connsiteY1" fmla="*/ 0 h 994611"/>
                <a:gd name="connsiteX2" fmla="*/ 3847110 w 3847110"/>
                <a:gd name="connsiteY2" fmla="*/ 165772 h 994611"/>
                <a:gd name="connsiteX3" fmla="*/ 3847110 w 3847110"/>
                <a:gd name="connsiteY3" fmla="*/ 828839 h 994611"/>
                <a:gd name="connsiteX4" fmla="*/ 3681338 w 3847110"/>
                <a:gd name="connsiteY4" fmla="*/ 994611 h 994611"/>
                <a:gd name="connsiteX5" fmla="*/ 162777 w 3847110"/>
                <a:gd name="connsiteY5" fmla="*/ 994611 h 994611"/>
                <a:gd name="connsiteX6" fmla="*/ 10032 w 3847110"/>
                <a:gd name="connsiteY6" fmla="*/ 893365 h 994611"/>
                <a:gd name="connsiteX7" fmla="*/ 0 w 3847110"/>
                <a:gd name="connsiteY7" fmla="*/ 843673 h 994611"/>
                <a:gd name="connsiteX8" fmla="*/ 65383 w 3847110"/>
                <a:gd name="connsiteY8" fmla="*/ 803370 h 994611"/>
                <a:gd name="connsiteX9" fmla="*/ 685629 w 3847110"/>
                <a:gd name="connsiteY9" fmla="*/ 110444 h 994611"/>
                <a:gd name="connsiteX10" fmla="*/ 738066 w 3847110"/>
                <a:gd name="connsiteY10" fmla="*/ 0 h 994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47110" h="994611">
                  <a:moveTo>
                    <a:pt x="738066" y="0"/>
                  </a:moveTo>
                  <a:lnTo>
                    <a:pt x="3681338" y="0"/>
                  </a:lnTo>
                  <a:cubicBezTo>
                    <a:pt x="3772891" y="0"/>
                    <a:pt x="3847110" y="74219"/>
                    <a:pt x="3847110" y="165772"/>
                  </a:cubicBezTo>
                  <a:lnTo>
                    <a:pt x="3847110" y="828839"/>
                  </a:lnTo>
                  <a:cubicBezTo>
                    <a:pt x="3847110" y="920392"/>
                    <a:pt x="3772891" y="994611"/>
                    <a:pt x="3681338" y="994611"/>
                  </a:cubicBezTo>
                  <a:lnTo>
                    <a:pt x="162777" y="994611"/>
                  </a:lnTo>
                  <a:cubicBezTo>
                    <a:pt x="94112" y="994611"/>
                    <a:pt x="35198" y="952863"/>
                    <a:pt x="10032" y="893365"/>
                  </a:cubicBezTo>
                  <a:lnTo>
                    <a:pt x="0" y="843673"/>
                  </a:lnTo>
                  <a:lnTo>
                    <a:pt x="65383" y="803370"/>
                  </a:lnTo>
                  <a:cubicBezTo>
                    <a:pt x="323017" y="626769"/>
                    <a:pt x="536528" y="388933"/>
                    <a:pt x="685629" y="110444"/>
                  </a:cubicBezTo>
                  <a:lnTo>
                    <a:pt x="738066" y="0"/>
                  </a:lnTo>
                  <a:close/>
                </a:path>
              </a:pathLst>
            </a:cu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a:noFill/>
            </a:ln>
            <a:effectLst>
              <a:outerShdw blurRad="292100" dir="5400000" algn="ctr" rotWithShape="0">
                <a:srgbClr val="000000">
                  <a:alpha val="5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dirty="0" smtClean="0">
                  <a:solidFill>
                    <a:schemeClr val="tx1">
                      <a:lumMod val="95000"/>
                      <a:lumOff val="5000"/>
                    </a:schemeClr>
                  </a:solidFill>
                  <a:latin typeface="Agency FB" panose="020B0503020202020204" pitchFamily="34" charset="0"/>
                </a:rPr>
                <a:t>OBJECTIFS</a:t>
              </a:r>
              <a:endParaRPr lang="fr-FR" sz="1400" dirty="0">
                <a:solidFill>
                  <a:schemeClr val="tx1">
                    <a:lumMod val="95000"/>
                    <a:lumOff val="5000"/>
                  </a:schemeClr>
                </a:solidFill>
                <a:latin typeface="Agency FB" panose="020B0503020202020204" pitchFamily="34" charset="0"/>
              </a:endParaRPr>
            </a:p>
          </p:txBody>
        </p:sp>
        <p:sp>
          <p:nvSpPr>
            <p:cNvPr id="33" name="Forme libre 32"/>
            <p:cNvSpPr/>
            <p:nvPr/>
          </p:nvSpPr>
          <p:spPr>
            <a:xfrm>
              <a:off x="7194885" y="5037177"/>
              <a:ext cx="741061" cy="843673"/>
            </a:xfrm>
            <a:custGeom>
              <a:avLst/>
              <a:gdLst>
                <a:gd name="connsiteX0" fmla="*/ 165772 w 741061"/>
                <a:gd name="connsiteY0" fmla="*/ 0 h 843673"/>
                <a:gd name="connsiteX1" fmla="*/ 741061 w 741061"/>
                <a:gd name="connsiteY1" fmla="*/ 0 h 843673"/>
                <a:gd name="connsiteX2" fmla="*/ 688624 w 741061"/>
                <a:gd name="connsiteY2" fmla="*/ 110444 h 843673"/>
                <a:gd name="connsiteX3" fmla="*/ 68378 w 741061"/>
                <a:gd name="connsiteY3" fmla="*/ 803370 h 843673"/>
                <a:gd name="connsiteX4" fmla="*/ 2995 w 741061"/>
                <a:gd name="connsiteY4" fmla="*/ 843673 h 843673"/>
                <a:gd name="connsiteX5" fmla="*/ 0 w 741061"/>
                <a:gd name="connsiteY5" fmla="*/ 828839 h 843673"/>
                <a:gd name="connsiteX6" fmla="*/ 0 w 741061"/>
                <a:gd name="connsiteY6" fmla="*/ 165772 h 843673"/>
                <a:gd name="connsiteX7" fmla="*/ 165772 w 741061"/>
                <a:gd name="connsiteY7" fmla="*/ 0 h 843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1061" h="843673">
                  <a:moveTo>
                    <a:pt x="165772" y="0"/>
                  </a:moveTo>
                  <a:lnTo>
                    <a:pt x="741061" y="0"/>
                  </a:lnTo>
                  <a:lnTo>
                    <a:pt x="688624" y="110444"/>
                  </a:lnTo>
                  <a:cubicBezTo>
                    <a:pt x="539523" y="388933"/>
                    <a:pt x="326012" y="626769"/>
                    <a:pt x="68378" y="803370"/>
                  </a:cubicBezTo>
                  <a:lnTo>
                    <a:pt x="2995" y="843673"/>
                  </a:lnTo>
                  <a:lnTo>
                    <a:pt x="0" y="828839"/>
                  </a:lnTo>
                  <a:lnTo>
                    <a:pt x="0" y="165772"/>
                  </a:lnTo>
                  <a:cubicBezTo>
                    <a:pt x="0" y="74219"/>
                    <a:pt x="74219" y="0"/>
                    <a:pt x="165772" y="0"/>
                  </a:cubicBezTo>
                  <a:close/>
                </a:path>
              </a:pathLst>
            </a:cu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41"/>
            <p:cNvSpPr/>
            <p:nvPr/>
          </p:nvSpPr>
          <p:spPr>
            <a:xfrm>
              <a:off x="7185693" y="4955682"/>
              <a:ext cx="445016" cy="769441"/>
            </a:xfrm>
            <a:prstGeom prst="rect">
              <a:avLst/>
            </a:prstGeom>
            <a:noFill/>
          </p:spPr>
          <p:txBody>
            <a:bodyPr wrap="square" lIns="91440" tIns="45720" rIns="91440" bIns="45720">
              <a:spAutoFit/>
            </a:bodyPr>
            <a:lstStyle/>
            <a:p>
              <a:pPr algn="ctr"/>
              <a:r>
                <a:rPr lang="fr-FR" sz="4400" b="1" dirty="0" smtClean="0">
                  <a:ln w="6600">
                    <a:solidFill>
                      <a:schemeClr val="accent2"/>
                    </a:solidFill>
                    <a:prstDash val="solid"/>
                  </a:ln>
                  <a:solidFill>
                    <a:srgbClr val="FFFFFF"/>
                  </a:solidFill>
                  <a:effectLst>
                    <a:outerShdw dist="38100" dir="2700000" algn="tl" rotWithShape="0">
                      <a:schemeClr val="accent2"/>
                    </a:outerShdw>
                  </a:effectLst>
                </a:rPr>
                <a:t>3</a:t>
              </a:r>
              <a:endParaRPr lang="fr-FR" sz="44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49" name="Étoile à 4 branches 48"/>
            <p:cNvSpPr/>
            <p:nvPr/>
          </p:nvSpPr>
          <p:spPr>
            <a:xfrm>
              <a:off x="10724606" y="5821838"/>
              <a:ext cx="126274" cy="134037"/>
            </a:xfrm>
            <a:prstGeom prst="star4">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0" name="Groupe 59"/>
          <p:cNvGrpSpPr/>
          <p:nvPr/>
        </p:nvGrpSpPr>
        <p:grpSpPr>
          <a:xfrm>
            <a:off x="-4047328" y="3845941"/>
            <a:ext cx="3850105" cy="994611"/>
            <a:chOff x="1483896" y="3880641"/>
            <a:chExt cx="3850105" cy="994611"/>
          </a:xfrm>
        </p:grpSpPr>
        <p:sp>
          <p:nvSpPr>
            <p:cNvPr id="36" name="Forme libre 35"/>
            <p:cNvSpPr/>
            <p:nvPr/>
          </p:nvSpPr>
          <p:spPr>
            <a:xfrm>
              <a:off x="4243137" y="3880641"/>
              <a:ext cx="1090864" cy="994611"/>
            </a:xfrm>
            <a:custGeom>
              <a:avLst/>
              <a:gdLst>
                <a:gd name="connsiteX0" fmla="*/ 29433 w 1090864"/>
                <a:gd name="connsiteY0" fmla="*/ 0 h 994611"/>
                <a:gd name="connsiteX1" fmla="*/ 925092 w 1090864"/>
                <a:gd name="connsiteY1" fmla="*/ 0 h 994611"/>
                <a:gd name="connsiteX2" fmla="*/ 1090864 w 1090864"/>
                <a:gd name="connsiteY2" fmla="*/ 165772 h 994611"/>
                <a:gd name="connsiteX3" fmla="*/ 1090864 w 1090864"/>
                <a:gd name="connsiteY3" fmla="*/ 828839 h 994611"/>
                <a:gd name="connsiteX4" fmla="*/ 925092 w 1090864"/>
                <a:gd name="connsiteY4" fmla="*/ 994611 h 994611"/>
                <a:gd name="connsiteX5" fmla="*/ 115950 w 1090864"/>
                <a:gd name="connsiteY5" fmla="*/ 994611 h 994611"/>
                <a:gd name="connsiteX6" fmla="*/ 87087 w 1090864"/>
                <a:gd name="connsiteY6" fmla="*/ 914598 h 994611"/>
                <a:gd name="connsiteX7" fmla="*/ 0 w 1090864"/>
                <a:gd name="connsiteY7" fmla="*/ 330138 h 994611"/>
                <a:gd name="connsiteX8" fmla="*/ 10001 w 1090864"/>
                <a:gd name="connsiteY8" fmla="*/ 129184 h 994611"/>
                <a:gd name="connsiteX9" fmla="*/ 29433 w 1090864"/>
                <a:gd name="connsiteY9" fmla="*/ 0 h 994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0864" h="994611">
                  <a:moveTo>
                    <a:pt x="29433" y="0"/>
                  </a:moveTo>
                  <a:lnTo>
                    <a:pt x="925092" y="0"/>
                  </a:lnTo>
                  <a:cubicBezTo>
                    <a:pt x="1016645" y="0"/>
                    <a:pt x="1090864" y="74219"/>
                    <a:pt x="1090864" y="165772"/>
                  </a:cubicBezTo>
                  <a:lnTo>
                    <a:pt x="1090864" y="828839"/>
                  </a:lnTo>
                  <a:cubicBezTo>
                    <a:pt x="1090864" y="920392"/>
                    <a:pt x="1016645" y="994611"/>
                    <a:pt x="925092" y="994611"/>
                  </a:cubicBezTo>
                  <a:lnTo>
                    <a:pt x="115950" y="994611"/>
                  </a:lnTo>
                  <a:lnTo>
                    <a:pt x="87087" y="914598"/>
                  </a:lnTo>
                  <a:cubicBezTo>
                    <a:pt x="30490" y="729967"/>
                    <a:pt x="0" y="533666"/>
                    <a:pt x="0" y="330138"/>
                  </a:cubicBezTo>
                  <a:cubicBezTo>
                    <a:pt x="0" y="262296"/>
                    <a:pt x="3388" y="195256"/>
                    <a:pt x="10001" y="129184"/>
                  </a:cubicBezTo>
                  <a:lnTo>
                    <a:pt x="29433"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Forme libre 28"/>
            <p:cNvSpPr/>
            <p:nvPr/>
          </p:nvSpPr>
          <p:spPr>
            <a:xfrm>
              <a:off x="1483896" y="3880641"/>
              <a:ext cx="2875191" cy="994611"/>
            </a:xfrm>
            <a:custGeom>
              <a:avLst/>
              <a:gdLst>
                <a:gd name="connsiteX0" fmla="*/ 165772 w 2875191"/>
                <a:gd name="connsiteY0" fmla="*/ 0 h 994611"/>
                <a:gd name="connsiteX1" fmla="*/ 2788674 w 2875191"/>
                <a:gd name="connsiteY1" fmla="*/ 0 h 994611"/>
                <a:gd name="connsiteX2" fmla="*/ 2769242 w 2875191"/>
                <a:gd name="connsiteY2" fmla="*/ 129184 h 994611"/>
                <a:gd name="connsiteX3" fmla="*/ 2759241 w 2875191"/>
                <a:gd name="connsiteY3" fmla="*/ 330138 h 994611"/>
                <a:gd name="connsiteX4" fmla="*/ 2846328 w 2875191"/>
                <a:gd name="connsiteY4" fmla="*/ 914598 h 994611"/>
                <a:gd name="connsiteX5" fmla="*/ 2875191 w 2875191"/>
                <a:gd name="connsiteY5" fmla="*/ 994611 h 994611"/>
                <a:gd name="connsiteX6" fmla="*/ 165772 w 2875191"/>
                <a:gd name="connsiteY6" fmla="*/ 994611 h 994611"/>
                <a:gd name="connsiteX7" fmla="*/ 0 w 2875191"/>
                <a:gd name="connsiteY7" fmla="*/ 828839 h 994611"/>
                <a:gd name="connsiteX8" fmla="*/ 0 w 2875191"/>
                <a:gd name="connsiteY8" fmla="*/ 165772 h 994611"/>
                <a:gd name="connsiteX9" fmla="*/ 165772 w 2875191"/>
                <a:gd name="connsiteY9" fmla="*/ 0 h 994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75191" h="994611">
                  <a:moveTo>
                    <a:pt x="165772" y="0"/>
                  </a:moveTo>
                  <a:lnTo>
                    <a:pt x="2788674" y="0"/>
                  </a:lnTo>
                  <a:lnTo>
                    <a:pt x="2769242" y="129184"/>
                  </a:lnTo>
                  <a:cubicBezTo>
                    <a:pt x="2762629" y="195256"/>
                    <a:pt x="2759241" y="262296"/>
                    <a:pt x="2759241" y="330138"/>
                  </a:cubicBezTo>
                  <a:cubicBezTo>
                    <a:pt x="2759241" y="533666"/>
                    <a:pt x="2789731" y="729967"/>
                    <a:pt x="2846328" y="914598"/>
                  </a:cubicBezTo>
                  <a:lnTo>
                    <a:pt x="2875191" y="994611"/>
                  </a:lnTo>
                  <a:lnTo>
                    <a:pt x="165772" y="994611"/>
                  </a:lnTo>
                  <a:cubicBezTo>
                    <a:pt x="74219" y="994611"/>
                    <a:pt x="0" y="920392"/>
                    <a:pt x="0" y="828839"/>
                  </a:cubicBezTo>
                  <a:lnTo>
                    <a:pt x="0" y="165772"/>
                  </a:lnTo>
                  <a:cubicBezTo>
                    <a:pt x="0" y="74219"/>
                    <a:pt x="74219" y="0"/>
                    <a:pt x="165772" y="0"/>
                  </a:cubicBezTo>
                  <a:close/>
                </a:path>
              </a:pathLst>
            </a:cu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a:noFill/>
            </a:ln>
            <a:effectLst>
              <a:outerShdw blurRad="292100" dir="5400000" algn="ctr" rotWithShape="0">
                <a:srgbClr val="000000">
                  <a:alpha val="5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smtClean="0">
                  <a:solidFill>
                    <a:schemeClr val="tx1"/>
                  </a:solidFill>
                  <a:latin typeface="Agency FB" panose="020B0503020202020204" pitchFamily="34" charset="0"/>
                </a:rPr>
                <a:t>DIAGRAME DE GANT ET ESTIMATION DU COUT</a:t>
              </a:r>
              <a:endParaRPr lang="fr-FR" sz="2400" dirty="0">
                <a:solidFill>
                  <a:schemeClr val="tx1"/>
                </a:solidFill>
                <a:latin typeface="Agency FB" panose="020B0503020202020204" pitchFamily="34" charset="0"/>
              </a:endParaRPr>
            </a:p>
          </p:txBody>
        </p:sp>
        <p:sp>
          <p:nvSpPr>
            <p:cNvPr id="44" name="Rectangle 43"/>
            <p:cNvSpPr/>
            <p:nvPr/>
          </p:nvSpPr>
          <p:spPr>
            <a:xfrm>
              <a:off x="4624036" y="3898142"/>
              <a:ext cx="445016" cy="923330"/>
            </a:xfrm>
            <a:prstGeom prst="rect">
              <a:avLst/>
            </a:prstGeom>
            <a:noFill/>
          </p:spPr>
          <p:txBody>
            <a:bodyPr wrap="square" lIns="91440" tIns="45720" rIns="91440" bIns="45720">
              <a:spAutoFit/>
            </a:bodyPr>
            <a:lstStyle/>
            <a:p>
              <a:pPr algn="ctr"/>
              <a:r>
                <a:rPr lang="fr-FR" sz="5400" b="1" dirty="0" smtClean="0">
                  <a:ln w="6600">
                    <a:solidFill>
                      <a:schemeClr val="accent2"/>
                    </a:solidFill>
                    <a:prstDash val="solid"/>
                  </a:ln>
                  <a:solidFill>
                    <a:srgbClr val="FFFFFF"/>
                  </a:solidFill>
                  <a:effectLst>
                    <a:outerShdw dist="38100" dir="2700000" algn="tl" rotWithShape="0">
                      <a:schemeClr val="accent2"/>
                    </a:outerShdw>
                  </a:effectLst>
                </a:rPr>
                <a:t>5</a:t>
              </a:r>
              <a:endParaRPr lang="fr-FR" sz="54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50" name="Plus 49"/>
            <p:cNvSpPr/>
            <p:nvPr/>
          </p:nvSpPr>
          <p:spPr>
            <a:xfrm>
              <a:off x="1504343" y="4623515"/>
              <a:ext cx="200030" cy="216166"/>
            </a:xfrm>
            <a:prstGeom prst="mathPlus">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4" name="Groupe 53"/>
          <p:cNvGrpSpPr/>
          <p:nvPr/>
        </p:nvGrpSpPr>
        <p:grpSpPr>
          <a:xfrm>
            <a:off x="12334391" y="3824535"/>
            <a:ext cx="3850105" cy="1004825"/>
            <a:chOff x="7186863" y="3887928"/>
            <a:chExt cx="3850105" cy="1004825"/>
          </a:xfrm>
        </p:grpSpPr>
        <p:sp>
          <p:nvSpPr>
            <p:cNvPr id="28" name="Forme libre 27"/>
            <p:cNvSpPr/>
            <p:nvPr/>
          </p:nvSpPr>
          <p:spPr>
            <a:xfrm>
              <a:off x="7995042" y="3898142"/>
              <a:ext cx="3041926" cy="994611"/>
            </a:xfrm>
            <a:custGeom>
              <a:avLst/>
              <a:gdLst>
                <a:gd name="connsiteX0" fmla="*/ 95463 w 3041926"/>
                <a:gd name="connsiteY0" fmla="*/ 0 h 994611"/>
                <a:gd name="connsiteX1" fmla="*/ 2876154 w 3041926"/>
                <a:gd name="connsiteY1" fmla="*/ 0 h 994611"/>
                <a:gd name="connsiteX2" fmla="*/ 3041926 w 3041926"/>
                <a:gd name="connsiteY2" fmla="*/ 165772 h 994611"/>
                <a:gd name="connsiteX3" fmla="*/ 3041926 w 3041926"/>
                <a:gd name="connsiteY3" fmla="*/ 828839 h 994611"/>
                <a:gd name="connsiteX4" fmla="*/ 2876154 w 3041926"/>
                <a:gd name="connsiteY4" fmla="*/ 994611 h 994611"/>
                <a:gd name="connsiteX5" fmla="*/ 0 w 3041926"/>
                <a:gd name="connsiteY5" fmla="*/ 994611 h 994611"/>
                <a:gd name="connsiteX6" fmla="*/ 35176 w 3041926"/>
                <a:gd name="connsiteY6" fmla="*/ 897097 h 994611"/>
                <a:gd name="connsiteX7" fmla="*/ 122263 w 3041926"/>
                <a:gd name="connsiteY7" fmla="*/ 312637 h 994611"/>
                <a:gd name="connsiteX8" fmla="*/ 112262 w 3041926"/>
                <a:gd name="connsiteY8" fmla="*/ 111683 h 994611"/>
                <a:gd name="connsiteX9" fmla="*/ 95463 w 3041926"/>
                <a:gd name="connsiteY9" fmla="*/ 0 h 994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1926" h="994611">
                  <a:moveTo>
                    <a:pt x="95463" y="0"/>
                  </a:moveTo>
                  <a:lnTo>
                    <a:pt x="2876154" y="0"/>
                  </a:lnTo>
                  <a:cubicBezTo>
                    <a:pt x="2967707" y="0"/>
                    <a:pt x="3041926" y="74219"/>
                    <a:pt x="3041926" y="165772"/>
                  </a:cubicBezTo>
                  <a:lnTo>
                    <a:pt x="3041926" y="828839"/>
                  </a:lnTo>
                  <a:cubicBezTo>
                    <a:pt x="3041926" y="920392"/>
                    <a:pt x="2967707" y="994611"/>
                    <a:pt x="2876154" y="994611"/>
                  </a:cubicBezTo>
                  <a:lnTo>
                    <a:pt x="0" y="994611"/>
                  </a:lnTo>
                  <a:lnTo>
                    <a:pt x="35176" y="897097"/>
                  </a:lnTo>
                  <a:cubicBezTo>
                    <a:pt x="91774" y="712466"/>
                    <a:pt x="122263" y="516165"/>
                    <a:pt x="122263" y="312637"/>
                  </a:cubicBezTo>
                  <a:cubicBezTo>
                    <a:pt x="122263" y="244795"/>
                    <a:pt x="118876" y="177755"/>
                    <a:pt x="112262" y="111683"/>
                  </a:cubicBezTo>
                  <a:lnTo>
                    <a:pt x="95463" y="0"/>
                  </a:lnTo>
                  <a:close/>
                </a:path>
              </a:pathLst>
            </a:cu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a:noFill/>
            </a:ln>
            <a:effectLst>
              <a:outerShdw blurRad="292100" dir="5400000" algn="ctr" rotWithShape="0">
                <a:srgbClr val="000000">
                  <a:alpha val="5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smtClean="0">
                  <a:solidFill>
                    <a:schemeClr val="tx1"/>
                  </a:solidFill>
                  <a:latin typeface="Agency FB" panose="020B0503020202020204" pitchFamily="34" charset="0"/>
                </a:rPr>
                <a:t>CONTEXTE ET JUSTIFICATION</a:t>
              </a:r>
              <a:endParaRPr lang="fr-FR" sz="2400" dirty="0">
                <a:solidFill>
                  <a:schemeClr val="tx1"/>
                </a:solidFill>
                <a:latin typeface="Agency FB" panose="020B0503020202020204" pitchFamily="34" charset="0"/>
              </a:endParaRPr>
            </a:p>
          </p:txBody>
        </p:sp>
        <p:grpSp>
          <p:nvGrpSpPr>
            <p:cNvPr id="53" name="Groupe 52"/>
            <p:cNvGrpSpPr/>
            <p:nvPr/>
          </p:nvGrpSpPr>
          <p:grpSpPr>
            <a:xfrm>
              <a:off x="7186863" y="3887928"/>
              <a:ext cx="930442" cy="1004825"/>
              <a:chOff x="7186863" y="3887928"/>
              <a:chExt cx="930442" cy="1004825"/>
            </a:xfrm>
          </p:grpSpPr>
          <p:sp>
            <p:nvSpPr>
              <p:cNvPr id="35" name="Forme libre 34"/>
              <p:cNvSpPr/>
              <p:nvPr/>
            </p:nvSpPr>
            <p:spPr>
              <a:xfrm>
                <a:off x="7186863" y="3898142"/>
                <a:ext cx="930442" cy="994611"/>
              </a:xfrm>
              <a:custGeom>
                <a:avLst/>
                <a:gdLst>
                  <a:gd name="connsiteX0" fmla="*/ 165772 w 930442"/>
                  <a:gd name="connsiteY0" fmla="*/ 0 h 994611"/>
                  <a:gd name="connsiteX1" fmla="*/ 903642 w 930442"/>
                  <a:gd name="connsiteY1" fmla="*/ 0 h 994611"/>
                  <a:gd name="connsiteX2" fmla="*/ 920441 w 930442"/>
                  <a:gd name="connsiteY2" fmla="*/ 111683 h 994611"/>
                  <a:gd name="connsiteX3" fmla="*/ 930442 w 930442"/>
                  <a:gd name="connsiteY3" fmla="*/ 312637 h 994611"/>
                  <a:gd name="connsiteX4" fmla="*/ 843355 w 930442"/>
                  <a:gd name="connsiteY4" fmla="*/ 897097 h 994611"/>
                  <a:gd name="connsiteX5" fmla="*/ 808179 w 930442"/>
                  <a:gd name="connsiteY5" fmla="*/ 994611 h 994611"/>
                  <a:gd name="connsiteX6" fmla="*/ 165772 w 930442"/>
                  <a:gd name="connsiteY6" fmla="*/ 994611 h 994611"/>
                  <a:gd name="connsiteX7" fmla="*/ 0 w 930442"/>
                  <a:gd name="connsiteY7" fmla="*/ 828839 h 994611"/>
                  <a:gd name="connsiteX8" fmla="*/ 0 w 930442"/>
                  <a:gd name="connsiteY8" fmla="*/ 165772 h 994611"/>
                  <a:gd name="connsiteX9" fmla="*/ 165772 w 930442"/>
                  <a:gd name="connsiteY9" fmla="*/ 0 h 994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0442" h="994611">
                    <a:moveTo>
                      <a:pt x="165772" y="0"/>
                    </a:moveTo>
                    <a:lnTo>
                      <a:pt x="903642" y="0"/>
                    </a:lnTo>
                    <a:lnTo>
                      <a:pt x="920441" y="111683"/>
                    </a:lnTo>
                    <a:cubicBezTo>
                      <a:pt x="927055" y="177755"/>
                      <a:pt x="930442" y="244795"/>
                      <a:pt x="930442" y="312637"/>
                    </a:cubicBezTo>
                    <a:cubicBezTo>
                      <a:pt x="930442" y="516165"/>
                      <a:pt x="899953" y="712466"/>
                      <a:pt x="843355" y="897097"/>
                    </a:cubicBezTo>
                    <a:lnTo>
                      <a:pt x="808179" y="994611"/>
                    </a:lnTo>
                    <a:lnTo>
                      <a:pt x="165772" y="994611"/>
                    </a:lnTo>
                    <a:cubicBezTo>
                      <a:pt x="74219" y="994611"/>
                      <a:pt x="0" y="920392"/>
                      <a:pt x="0" y="828839"/>
                    </a:cubicBezTo>
                    <a:lnTo>
                      <a:pt x="0" y="165772"/>
                    </a:lnTo>
                    <a:cubicBezTo>
                      <a:pt x="0" y="74219"/>
                      <a:pt x="74219" y="0"/>
                      <a:pt x="165772" y="0"/>
                    </a:cubicBez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Rectangle 40"/>
              <p:cNvSpPr/>
              <p:nvPr/>
            </p:nvSpPr>
            <p:spPr>
              <a:xfrm>
                <a:off x="7342907" y="3887928"/>
                <a:ext cx="445016" cy="923330"/>
              </a:xfrm>
              <a:prstGeom prst="rect">
                <a:avLst/>
              </a:prstGeom>
              <a:noFill/>
            </p:spPr>
            <p:txBody>
              <a:bodyPr wrap="square" lIns="91440" tIns="45720" rIns="91440" bIns="45720">
                <a:spAutoFit/>
              </a:bodyPr>
              <a:lstStyle/>
              <a:p>
                <a:pPr algn="ctr"/>
                <a:r>
                  <a:rPr lang="fr-FR" sz="5400" b="1" dirty="0">
                    <a:ln w="6600">
                      <a:solidFill>
                        <a:schemeClr val="accent2"/>
                      </a:solidFill>
                      <a:prstDash val="solid"/>
                    </a:ln>
                    <a:solidFill>
                      <a:srgbClr val="FFFFFF"/>
                    </a:solidFill>
                    <a:effectLst>
                      <a:outerShdw dist="38100" dir="2700000" algn="tl" rotWithShape="0">
                        <a:schemeClr val="accent2"/>
                      </a:outerShdw>
                    </a:effectLst>
                  </a:rPr>
                  <a:t>2</a:t>
                </a:r>
                <a:endParaRPr lang="fr-FR" sz="54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grpSp>
        <p:sp>
          <p:nvSpPr>
            <p:cNvPr id="51" name="Plus 50"/>
            <p:cNvSpPr/>
            <p:nvPr/>
          </p:nvSpPr>
          <p:spPr>
            <a:xfrm>
              <a:off x="10724606" y="4640716"/>
              <a:ext cx="200030" cy="216166"/>
            </a:xfrm>
            <a:prstGeom prst="mathPlus">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1727851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2.91667E-6 -3.33333E-6 L -0.42356 -3.33333E-6 " pathEditMode="relative" rAng="0" ptsTypes="AA">
                                      <p:cBhvr>
                                        <p:cTn id="6" dur="2000" fill="hold"/>
                                        <p:tgtEl>
                                          <p:spTgt spid="57"/>
                                        </p:tgtEl>
                                        <p:attrNameLst>
                                          <p:attrName>ppt_x</p:attrName>
                                          <p:attrName>ppt_y</p:attrName>
                                        </p:attrNameLst>
                                      </p:cBhvr>
                                      <p:rCtr x="-21185" y="0"/>
                                    </p:animMotion>
                                  </p:childTnLst>
                                </p:cTn>
                              </p:par>
                            </p:childTnLst>
                          </p:cTn>
                        </p:par>
                      </p:childTnLst>
                    </p:cTn>
                  </p:par>
                  <p:par>
                    <p:cTn id="7" fill="hold">
                      <p:stCondLst>
                        <p:cond delay="indefinite"/>
                      </p:stCondLst>
                      <p:childTnLst>
                        <p:par>
                          <p:cTn id="8" fill="hold">
                            <p:stCondLst>
                              <p:cond delay="0"/>
                            </p:stCondLst>
                            <p:childTnLst>
                              <p:par>
                                <p:cTn id="9" presetID="35" presetClass="path" presetSubtype="0" accel="50000" decel="50000" fill="hold" nodeType="clickEffect">
                                  <p:stCondLst>
                                    <p:cond delay="0"/>
                                  </p:stCondLst>
                                  <p:childTnLst>
                                    <p:animMotion origin="layout" path="M -1.66667E-6 2.96296E-6 L -0.42396 2.96296E-6 " pathEditMode="relative" rAng="0" ptsTypes="AA">
                                      <p:cBhvr>
                                        <p:cTn id="10" dur="2000" fill="hold"/>
                                        <p:tgtEl>
                                          <p:spTgt spid="54"/>
                                        </p:tgtEl>
                                        <p:attrNameLst>
                                          <p:attrName>ppt_x</p:attrName>
                                          <p:attrName>ppt_y</p:attrName>
                                        </p:attrNameLst>
                                      </p:cBhvr>
                                      <p:rCtr x="-21211" y="0"/>
                                    </p:animMotion>
                                  </p:childTnLst>
                                </p:cTn>
                              </p:par>
                            </p:childTnLst>
                          </p:cTn>
                        </p:par>
                      </p:childTnLst>
                    </p:cTn>
                  </p:par>
                  <p:par>
                    <p:cTn id="11" fill="hold">
                      <p:stCondLst>
                        <p:cond delay="indefinite"/>
                      </p:stCondLst>
                      <p:childTnLst>
                        <p:par>
                          <p:cTn id="12" fill="hold">
                            <p:stCondLst>
                              <p:cond delay="0"/>
                            </p:stCondLst>
                            <p:childTnLst>
                              <p:par>
                                <p:cTn id="13" presetID="35" presetClass="path" presetSubtype="0" accel="50000" decel="50000" fill="hold" nodeType="clickEffect">
                                  <p:stCondLst>
                                    <p:cond delay="0"/>
                                  </p:stCondLst>
                                  <p:childTnLst>
                                    <p:animMotion origin="layout" path="M -1.875E-6 0 L -0.43099 0 " pathEditMode="relative" rAng="0" ptsTypes="AA">
                                      <p:cBhvr>
                                        <p:cTn id="14" dur="2000" fill="hold"/>
                                        <p:tgtEl>
                                          <p:spTgt spid="56"/>
                                        </p:tgtEl>
                                        <p:attrNameLst>
                                          <p:attrName>ppt_x</p:attrName>
                                          <p:attrName>ppt_y</p:attrName>
                                        </p:attrNameLst>
                                      </p:cBhvr>
                                      <p:rCtr x="-21549" y="0"/>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1.25E-6 -4.81481E-6 L 0.45 -4.81481E-6 " pathEditMode="relative" rAng="0" ptsTypes="AA">
                                      <p:cBhvr>
                                        <p:cTn id="18" dur="2000" fill="hold"/>
                                        <p:tgtEl>
                                          <p:spTgt spid="59"/>
                                        </p:tgtEl>
                                        <p:attrNameLst>
                                          <p:attrName>ppt_x</p:attrName>
                                          <p:attrName>ppt_y</p:attrName>
                                        </p:attrNameLst>
                                      </p:cBhvr>
                                      <p:rCtr x="22513" y="0"/>
                                    </p:animMotion>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nodeType="clickEffect">
                                  <p:stCondLst>
                                    <p:cond delay="0"/>
                                  </p:stCondLst>
                                  <p:childTnLst>
                                    <p:animMotion origin="layout" path="M -1.25E-6 -1.48148E-6 L 0.45521 -3.33333E-6 " pathEditMode="relative" rAng="0" ptsTypes="AA">
                                      <p:cBhvr>
                                        <p:cTn id="22" dur="2000" fill="hold"/>
                                        <p:tgtEl>
                                          <p:spTgt spid="60"/>
                                        </p:tgtEl>
                                        <p:attrNameLst>
                                          <p:attrName>ppt_x</p:attrName>
                                          <p:attrName>ppt_y</p:attrName>
                                        </p:attrNameLst>
                                      </p:cBhvr>
                                      <p:rCtr x="22773" y="93"/>
                                    </p:animMotion>
                                  </p:childTnLst>
                                </p:cTn>
                              </p:par>
                            </p:childTnLst>
                          </p:cTn>
                        </p:par>
                      </p:childTnLst>
                    </p:cTn>
                  </p:par>
                  <p:par>
                    <p:cTn id="23" fill="hold">
                      <p:stCondLst>
                        <p:cond delay="indefinite"/>
                      </p:stCondLst>
                      <p:childTnLst>
                        <p:par>
                          <p:cTn id="24" fill="hold">
                            <p:stCondLst>
                              <p:cond delay="0"/>
                            </p:stCondLst>
                            <p:childTnLst>
                              <p:par>
                                <p:cTn id="25" presetID="63" presetClass="path" presetSubtype="0" accel="50000" decel="50000" fill="hold" nodeType="clickEffect">
                                  <p:stCondLst>
                                    <p:cond delay="0"/>
                                  </p:stCondLst>
                                  <p:childTnLst>
                                    <p:animMotion origin="layout" path="M -1.25E-6 4.44444E-6 L 0.45443 -4.81481E-6 " pathEditMode="relative" rAng="0" ptsTypes="AA">
                                      <p:cBhvr>
                                        <p:cTn id="26" dur="2000" fill="hold"/>
                                        <p:tgtEl>
                                          <p:spTgt spid="58"/>
                                        </p:tgtEl>
                                        <p:attrNameLst>
                                          <p:attrName>ppt_x</p:attrName>
                                          <p:attrName>ppt_y</p:attrName>
                                        </p:attrNameLst>
                                      </p:cBhvr>
                                      <p:rCtr x="22708" y="13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6" name="Groupe 35"/>
          <p:cNvGrpSpPr/>
          <p:nvPr/>
        </p:nvGrpSpPr>
        <p:grpSpPr>
          <a:xfrm>
            <a:off x="4626290" y="802957"/>
            <a:ext cx="6963676" cy="5534055"/>
            <a:chOff x="4111991" y="687976"/>
            <a:chExt cx="6963676" cy="5534055"/>
          </a:xfrm>
        </p:grpSpPr>
        <p:sp>
          <p:nvSpPr>
            <p:cNvPr id="33" name="Rectangle 32"/>
            <p:cNvSpPr/>
            <p:nvPr/>
          </p:nvSpPr>
          <p:spPr>
            <a:xfrm>
              <a:off x="4721317" y="687976"/>
              <a:ext cx="6142195" cy="923330"/>
            </a:xfrm>
            <a:prstGeom prst="rect">
              <a:avLst/>
            </a:prstGeom>
            <a:noFill/>
          </p:spPr>
          <p:txBody>
            <a:bodyPr wrap="none" lIns="91440" tIns="45720" rIns="91440" bIns="45720">
              <a:spAutoFit/>
            </a:bodyPr>
            <a:lstStyle/>
            <a:p>
              <a:pPr algn="ctr"/>
              <a:r>
                <a:rPr lang="fr-FR" sz="5400" b="1" dirty="0">
                  <a:ln w="6600">
                    <a:solidFill>
                      <a:schemeClr val="accent2"/>
                    </a:solidFill>
                    <a:prstDash val="solid"/>
                  </a:ln>
                  <a:solidFill>
                    <a:srgbClr val="FFFFFF"/>
                  </a:solidFill>
                  <a:effectLst>
                    <a:outerShdw dist="38100" dir="2700000" algn="tl" rotWithShape="0">
                      <a:schemeClr val="accent2"/>
                    </a:outerShdw>
                  </a:effectLst>
                </a:rPr>
                <a:t>INTRODUCTION</a:t>
              </a:r>
              <a:endParaRPr lang="fr-FR" sz="54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35" name="Rectangle 34"/>
            <p:cNvSpPr/>
            <p:nvPr/>
          </p:nvSpPr>
          <p:spPr>
            <a:xfrm>
              <a:off x="4111991" y="1999383"/>
              <a:ext cx="6963676" cy="42226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t>Le cahier des charges est un document contractuel préalablement établit de commun accord entre le maître d’œuvre et maître d’ouvrage, le cahier de charge doit être scrupuleusement respecté lors de la réalisation d’un projet. En effet, la réussite d’un projet passera impérativement par la définition écrite, détaillée, précise, exhaustive et éva</a:t>
              </a:r>
              <a:r>
                <a:rPr lang="fr-FR" sz="2400" i="1" dirty="0"/>
                <a:t>luabl</a:t>
              </a:r>
              <a:r>
                <a:rPr lang="fr-FR" sz="2400" dirty="0"/>
                <a:t>e du besoin, d’où l’importance majeure du cahier des charges. D’une manière générale, il permet de formaliser les besoins et de les expliciter aux différents acteurs afin de s’assurer que tout le monde soit d’accord. Il regroupe donc le contexte et la justification du projet, l’estimation du coût, la planification, les contraintes et les livrables.</a:t>
              </a:r>
            </a:p>
            <a:p>
              <a:pPr algn="ctr"/>
              <a:endParaRPr lang="fr-FR" dirty="0"/>
            </a:p>
          </p:txBody>
        </p:sp>
      </p:grpSp>
      <p:grpSp>
        <p:nvGrpSpPr>
          <p:cNvPr id="51" name="Groupe 50"/>
          <p:cNvGrpSpPr/>
          <p:nvPr/>
        </p:nvGrpSpPr>
        <p:grpSpPr>
          <a:xfrm>
            <a:off x="-6753058" y="10204"/>
            <a:ext cx="11570676" cy="6858000"/>
            <a:chOff x="2153195" y="-55816"/>
            <a:chExt cx="11570676" cy="6858000"/>
          </a:xfrm>
        </p:grpSpPr>
        <p:grpSp>
          <p:nvGrpSpPr>
            <p:cNvPr id="4" name="Groupe 3"/>
            <p:cNvGrpSpPr/>
            <p:nvPr/>
          </p:nvGrpSpPr>
          <p:grpSpPr>
            <a:xfrm>
              <a:off x="2153195" y="-55816"/>
              <a:ext cx="11570676" cy="6858000"/>
              <a:chOff x="0" y="0"/>
              <a:chExt cx="11570676" cy="6858000"/>
            </a:xfrm>
            <a:effectLst>
              <a:outerShdw blurRad="254000" dist="114300" dir="2700000" algn="tl" rotWithShape="0">
                <a:prstClr val="black">
                  <a:alpha val="40000"/>
                </a:prstClr>
              </a:outerShdw>
            </a:effectLst>
          </p:grpSpPr>
          <p:sp>
            <p:nvSpPr>
              <p:cNvPr id="2" name="Rectangle 1"/>
              <p:cNvSpPr/>
              <p:nvPr/>
            </p:nvSpPr>
            <p:spPr>
              <a:xfrm>
                <a:off x="0" y="0"/>
                <a:ext cx="10890738" cy="6858000"/>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 name="Rectangle 2"/>
              <p:cNvSpPr/>
              <p:nvPr/>
            </p:nvSpPr>
            <p:spPr>
              <a:xfrm>
                <a:off x="10890738" y="2831123"/>
                <a:ext cx="679938" cy="1195753"/>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dirty="0">
                    <a:solidFill>
                      <a:srgbClr val="4D1434"/>
                    </a:solidFill>
                  </a:rPr>
                  <a:t>2</a:t>
                </a:r>
              </a:p>
            </p:txBody>
          </p:sp>
        </p:grpSp>
        <p:sp>
          <p:nvSpPr>
            <p:cNvPr id="16" name="Rectangle 15"/>
            <p:cNvSpPr/>
            <p:nvPr/>
          </p:nvSpPr>
          <p:spPr>
            <a:xfrm>
              <a:off x="3740379" y="410039"/>
              <a:ext cx="8446223" cy="923330"/>
            </a:xfrm>
            <a:prstGeom prst="rect">
              <a:avLst/>
            </a:prstGeom>
            <a:noFill/>
          </p:spPr>
          <p:txBody>
            <a:bodyPr wrap="none" lIns="91440" tIns="45720" rIns="91440" bIns="45720">
              <a:spAutoFit/>
            </a:bodyPr>
            <a:lstStyle/>
            <a:p>
              <a:pPr algn="ctr"/>
              <a:r>
                <a:rPr lang="fr-FR" sz="5400" b="1" dirty="0">
                  <a:ln w="6600">
                    <a:solidFill>
                      <a:schemeClr val="accent2"/>
                    </a:solidFill>
                    <a:prstDash val="solid"/>
                  </a:ln>
                  <a:solidFill>
                    <a:srgbClr val="FFFFFF"/>
                  </a:solidFill>
                  <a:effectLst>
                    <a:outerShdw dist="38100" dir="2700000" algn="tl" rotWithShape="0">
                      <a:schemeClr val="accent2"/>
                    </a:outerShdw>
                  </a:effectLst>
                </a:rPr>
                <a:t>	Contexte et justification</a:t>
              </a:r>
            </a:p>
          </p:txBody>
        </p:sp>
        <p:sp>
          <p:nvSpPr>
            <p:cNvPr id="17" name="Rectangle 16"/>
            <p:cNvSpPr/>
            <p:nvPr/>
          </p:nvSpPr>
          <p:spPr>
            <a:xfrm>
              <a:off x="4341397" y="1477747"/>
              <a:ext cx="7344826" cy="4626604"/>
            </a:xfrm>
            <a:prstGeom prst="rect">
              <a:avLst/>
            </a:prstGeom>
            <a:solidFill>
              <a:srgbClr val="9F29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0980" algn="just">
                <a:lnSpc>
                  <a:spcPct val="150000"/>
                </a:lnSpc>
                <a:spcAft>
                  <a:spcPts val="800"/>
                </a:spcAft>
              </a:pPr>
              <a:r>
                <a:rPr lang="fr-FR" dirty="0">
                  <a:latin typeface="Times New Roman" panose="02020603050405020304" pitchFamily="18" charset="0"/>
                  <a:ea typeface="Calibri" panose="020F0502020204030204" pitchFamily="34" charset="0"/>
                  <a:cs typeface="Times New Roman" panose="02020603050405020304" pitchFamily="18" charset="0"/>
                </a:rPr>
                <a:t>Dans un environnement professionnel de plus en plus dynamique, la sécurité et la stabilité des applications sont primordiales, il est crucial d’avoir une visibilité sur les actions qu’elles exécutent au niveau du système d’exploitation. Le développement d’une solution de surveillance des appels systèmes en temps réel prendra donc la forme d’une mise en place d’un logiciel de surveillance des activités des appels systèmes à travers un Dashboard web permettant l’analyse, la catégorisation grâce à un outil pour tracer l’activité système. Cette application permettra une meilleure vue de manière conviviale des différents appels systèmes tout en les classant par catégorie.</a:t>
              </a:r>
              <a:endParaRPr lang="fr-FR" sz="1600" dirty="0">
                <a:latin typeface="Calibri" panose="020F0502020204030204" pitchFamily="34" charset="0"/>
                <a:ea typeface="Calibri" panose="020F0502020204030204" pitchFamily="34" charset="0"/>
                <a:cs typeface="Times New Roman" panose="02020603050405020304" pitchFamily="18" charset="0"/>
              </a:endParaRPr>
            </a:p>
            <a:p>
              <a:pPr algn="ctr"/>
              <a:endParaRPr lang="fr-FR" sz="2000" dirty="0"/>
            </a:p>
          </p:txBody>
        </p:sp>
      </p:grpSp>
      <p:grpSp>
        <p:nvGrpSpPr>
          <p:cNvPr id="53" name="Groupe 52"/>
          <p:cNvGrpSpPr/>
          <p:nvPr/>
        </p:nvGrpSpPr>
        <p:grpSpPr>
          <a:xfrm>
            <a:off x="-7363604" y="-3504"/>
            <a:ext cx="11468365" cy="6858000"/>
            <a:chOff x="1373753" y="-408319"/>
            <a:chExt cx="11468365" cy="6858000"/>
          </a:xfrm>
        </p:grpSpPr>
        <p:grpSp>
          <p:nvGrpSpPr>
            <p:cNvPr id="52" name="Groupe 51"/>
            <p:cNvGrpSpPr/>
            <p:nvPr/>
          </p:nvGrpSpPr>
          <p:grpSpPr>
            <a:xfrm>
              <a:off x="1373753" y="-408319"/>
              <a:ext cx="11468365" cy="6858000"/>
              <a:chOff x="942369" y="-75693"/>
              <a:chExt cx="11468365" cy="6858000"/>
            </a:xfrm>
          </p:grpSpPr>
          <p:grpSp>
            <p:nvGrpSpPr>
              <p:cNvPr id="6" name="Groupe 5"/>
              <p:cNvGrpSpPr/>
              <p:nvPr/>
            </p:nvGrpSpPr>
            <p:grpSpPr>
              <a:xfrm>
                <a:off x="942369" y="-75693"/>
                <a:ext cx="11468365" cy="6858000"/>
                <a:chOff x="78864" y="153406"/>
                <a:chExt cx="11468365" cy="6858000"/>
              </a:xfrm>
              <a:solidFill>
                <a:schemeClr val="accent1">
                  <a:lumMod val="50000"/>
                  <a:lumOff val="50000"/>
                </a:schemeClr>
              </a:solidFill>
            </p:grpSpPr>
            <p:sp>
              <p:nvSpPr>
                <p:cNvPr id="7" name="Rectangle 6"/>
                <p:cNvSpPr/>
                <p:nvPr/>
              </p:nvSpPr>
              <p:spPr>
                <a:xfrm>
                  <a:off x="78864" y="153406"/>
                  <a:ext cx="10890738"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 name="Rectangle 7"/>
                <p:cNvSpPr/>
                <p:nvPr/>
              </p:nvSpPr>
              <p:spPr>
                <a:xfrm>
                  <a:off x="10867291" y="2233246"/>
                  <a:ext cx="679938" cy="119575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dirty="0" smtClean="0">
                      <a:solidFill>
                        <a:srgbClr val="4D1434"/>
                      </a:solidFill>
                    </a:rPr>
                    <a:t>3</a:t>
                  </a:r>
                  <a:endParaRPr lang="fr-FR" sz="4000" dirty="0">
                    <a:solidFill>
                      <a:srgbClr val="4D1434"/>
                    </a:solidFill>
                  </a:endParaRPr>
                </a:p>
              </p:txBody>
            </p:sp>
          </p:grpSp>
          <p:sp>
            <p:nvSpPr>
              <p:cNvPr id="19" name="Rectangle 18"/>
              <p:cNvSpPr/>
              <p:nvPr/>
            </p:nvSpPr>
            <p:spPr>
              <a:xfrm>
                <a:off x="5995446" y="398393"/>
                <a:ext cx="3081293" cy="923330"/>
              </a:xfrm>
              <a:prstGeom prst="rect">
                <a:avLst/>
              </a:prstGeom>
              <a:noFill/>
            </p:spPr>
            <p:txBody>
              <a:bodyPr wrap="none" lIns="91440" tIns="45720" rIns="91440" bIns="45720">
                <a:spAutoFit/>
              </a:bodyPr>
              <a:lstStyle/>
              <a:p>
                <a:pPr algn="ctr"/>
                <a:r>
                  <a:rPr lang="fr-FR" sz="5400" b="1" dirty="0" smtClean="0">
                    <a:ln w="6600">
                      <a:solidFill>
                        <a:schemeClr val="accent2"/>
                      </a:solidFill>
                      <a:prstDash val="solid"/>
                    </a:ln>
                    <a:solidFill>
                      <a:srgbClr val="FFFFFF"/>
                    </a:solidFill>
                    <a:effectLst>
                      <a:outerShdw dist="38100" dir="2700000" algn="tl" rotWithShape="0">
                        <a:schemeClr val="accent2"/>
                      </a:outerShdw>
                    </a:effectLst>
                  </a:rPr>
                  <a:t>Objectifs</a:t>
                </a:r>
                <a:endParaRPr lang="fr-FR" sz="54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grpSp>
        <p:sp>
          <p:nvSpPr>
            <p:cNvPr id="21" name="Rectangle 20"/>
            <p:cNvSpPr/>
            <p:nvPr/>
          </p:nvSpPr>
          <p:spPr>
            <a:xfrm>
              <a:off x="4055208" y="1635646"/>
              <a:ext cx="6922520" cy="4304853"/>
            </a:xfrm>
            <a:prstGeom prst="rect">
              <a:avLst/>
            </a:prstGeom>
            <a:solidFill>
              <a:srgbClr val="D45B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t>Objectif général : faciliter la compréhension et le traçage d’un appel système à travers un Dashboard web qui identifie et les classes par catégorie.</a:t>
              </a:r>
            </a:p>
            <a:p>
              <a:pPr algn="ctr"/>
              <a:endParaRPr lang="fr-FR" sz="2400" dirty="0"/>
            </a:p>
            <a:p>
              <a:pPr algn="ctr"/>
              <a:r>
                <a:rPr lang="fr-FR" sz="2400" dirty="0"/>
                <a:t>Objectifs spécifiques : </a:t>
              </a:r>
            </a:p>
            <a:p>
              <a:pPr algn="ctr"/>
              <a:r>
                <a:rPr lang="fr-FR" sz="2400" dirty="0"/>
                <a:t>-	Comprendre ce qu’est un appel système. </a:t>
              </a:r>
            </a:p>
            <a:p>
              <a:pPr algn="ctr"/>
              <a:r>
                <a:rPr lang="fr-FR" sz="2400" dirty="0"/>
                <a:t>-	Donner le rôle d’un appel système dans l’architecture du système d’exploitation.</a:t>
              </a:r>
            </a:p>
            <a:p>
              <a:pPr algn="ctr"/>
              <a:r>
                <a:rPr lang="fr-FR" sz="2400" dirty="0"/>
                <a:t>-	Utiliser les outils bas niveau pour tracer l’activité système.</a:t>
              </a:r>
            </a:p>
            <a:p>
              <a:pPr algn="ctr"/>
              <a:r>
                <a:rPr lang="fr-FR" sz="2400" dirty="0"/>
                <a:t>-	Visualiser l’activité système facilement avec un Dashboard web</a:t>
              </a:r>
              <a:r>
                <a:rPr lang="fr-FR" dirty="0"/>
                <a:t>.</a:t>
              </a:r>
            </a:p>
            <a:p>
              <a:pPr algn="ctr"/>
              <a:endParaRPr lang="fr-FR" dirty="0"/>
            </a:p>
          </p:txBody>
        </p:sp>
      </p:grpSp>
      <p:sp>
        <p:nvSpPr>
          <p:cNvPr id="15" name="Rectangle 14"/>
          <p:cNvSpPr/>
          <p:nvPr/>
        </p:nvSpPr>
        <p:spPr>
          <a:xfrm>
            <a:off x="-3019618" y="476800"/>
            <a:ext cx="693172" cy="923330"/>
          </a:xfrm>
          <a:prstGeom prst="rect">
            <a:avLst/>
          </a:prstGeom>
          <a:noFill/>
        </p:spPr>
        <p:txBody>
          <a:bodyPr wrap="square" lIns="91440" tIns="45720" rIns="91440" bIns="45720">
            <a:spAutoFit/>
          </a:bodyPr>
          <a:lstStyle/>
          <a:p>
            <a:pPr algn="ctr"/>
            <a:endParaRPr lang="fr-FR" sz="5400" b="1" dirty="0">
              <a:ln w="6600">
                <a:solidFill>
                  <a:schemeClr val="accent2"/>
                </a:solidFill>
                <a:prstDash val="solid"/>
              </a:ln>
              <a:solidFill>
                <a:srgbClr val="FFFFFF"/>
              </a:solidFill>
              <a:effectLst>
                <a:outerShdw dist="38100" dir="2700000" algn="tl" rotWithShape="0">
                  <a:schemeClr val="accent2"/>
                </a:outerShdw>
              </a:effectLst>
            </a:endParaRPr>
          </a:p>
        </p:txBody>
      </p:sp>
      <p:grpSp>
        <p:nvGrpSpPr>
          <p:cNvPr id="50" name="Groupe 49"/>
          <p:cNvGrpSpPr/>
          <p:nvPr/>
        </p:nvGrpSpPr>
        <p:grpSpPr>
          <a:xfrm>
            <a:off x="-8122407" y="37049"/>
            <a:ext cx="11547230" cy="6858000"/>
            <a:chOff x="1463193" y="-520988"/>
            <a:chExt cx="11547230" cy="6858000"/>
          </a:xfrm>
        </p:grpSpPr>
        <p:grpSp>
          <p:nvGrpSpPr>
            <p:cNvPr id="39" name="Groupe 38"/>
            <p:cNvGrpSpPr/>
            <p:nvPr/>
          </p:nvGrpSpPr>
          <p:grpSpPr>
            <a:xfrm>
              <a:off x="1463193" y="-520988"/>
              <a:ext cx="11547230" cy="6858000"/>
              <a:chOff x="-9445719" y="10944"/>
              <a:chExt cx="11547230" cy="6858000"/>
            </a:xfrm>
          </p:grpSpPr>
          <p:grpSp>
            <p:nvGrpSpPr>
              <p:cNvPr id="26" name="Groupe 25"/>
              <p:cNvGrpSpPr/>
              <p:nvPr/>
            </p:nvGrpSpPr>
            <p:grpSpPr>
              <a:xfrm>
                <a:off x="-9445719" y="10944"/>
                <a:ext cx="11547230" cy="6858000"/>
                <a:chOff x="-1978735" y="-1"/>
                <a:chExt cx="11547230" cy="6858000"/>
              </a:xfrm>
            </p:grpSpPr>
            <p:sp>
              <p:nvSpPr>
                <p:cNvPr id="10" name="Rectangle 9"/>
                <p:cNvSpPr/>
                <p:nvPr/>
              </p:nvSpPr>
              <p:spPr>
                <a:xfrm>
                  <a:off x="-1978735" y="-1"/>
                  <a:ext cx="10890738" cy="6858000"/>
                </a:xfrm>
                <a:prstGeom prst="rect">
                  <a:avLst/>
                </a:prstGeom>
                <a:solidFill>
                  <a:schemeClr val="accent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1" name="Rectangle 10"/>
                <p:cNvSpPr/>
                <p:nvPr/>
              </p:nvSpPr>
              <p:spPr>
                <a:xfrm>
                  <a:off x="8888557" y="1834660"/>
                  <a:ext cx="679938" cy="1195753"/>
                </a:xfrm>
                <a:prstGeom prst="rect">
                  <a:avLst/>
                </a:prstGeom>
                <a:solidFill>
                  <a:schemeClr val="accent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dirty="0" smtClean="0">
                      <a:solidFill>
                        <a:srgbClr val="4D1434"/>
                      </a:solidFill>
                    </a:rPr>
                    <a:t>4</a:t>
                  </a:r>
                  <a:endParaRPr lang="fr-FR" sz="4000" dirty="0">
                    <a:solidFill>
                      <a:srgbClr val="4D1434"/>
                    </a:solidFill>
                  </a:endParaRPr>
                </a:p>
              </p:txBody>
            </p:sp>
          </p:grpSp>
          <p:sp>
            <p:nvSpPr>
              <p:cNvPr id="23" name="Rectangle 22"/>
              <p:cNvSpPr/>
              <p:nvPr/>
            </p:nvSpPr>
            <p:spPr>
              <a:xfrm>
                <a:off x="-6193484" y="413868"/>
                <a:ext cx="4283930" cy="923330"/>
              </a:xfrm>
              <a:prstGeom prst="rect">
                <a:avLst/>
              </a:prstGeom>
              <a:noFill/>
            </p:spPr>
            <p:txBody>
              <a:bodyPr wrap="none" lIns="91440" tIns="45720" rIns="91440" bIns="45720">
                <a:spAutoFit/>
              </a:bodyPr>
              <a:lstStyle/>
              <a:p>
                <a:pPr algn="ctr"/>
                <a:r>
                  <a:rPr lang="fr-FR" sz="5400" b="1" dirty="0" smtClean="0">
                    <a:ln w="6600">
                      <a:solidFill>
                        <a:schemeClr val="accent2"/>
                      </a:solidFill>
                      <a:prstDash val="solid"/>
                    </a:ln>
                    <a:solidFill>
                      <a:srgbClr val="FFFFFF"/>
                    </a:solidFill>
                    <a:effectLst>
                      <a:outerShdw dist="38100" dir="2700000" algn="tl" rotWithShape="0">
                        <a:schemeClr val="accent2"/>
                      </a:outerShdw>
                    </a:effectLst>
                  </a:rPr>
                  <a:t>Intervenants</a:t>
                </a:r>
                <a:endParaRPr lang="fr-FR" sz="54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grpSp>
        <p:sp>
          <p:nvSpPr>
            <p:cNvPr id="41" name="Rectangle 40"/>
            <p:cNvSpPr/>
            <p:nvPr/>
          </p:nvSpPr>
          <p:spPr>
            <a:xfrm>
              <a:off x="3573802" y="1964406"/>
              <a:ext cx="6096000" cy="2031325"/>
            </a:xfrm>
            <a:prstGeom prst="rect">
              <a:avLst/>
            </a:prstGeom>
          </p:spPr>
          <p:txBody>
            <a:bodyPr>
              <a:spAutoFit/>
            </a:bodyPr>
            <a:lstStyle/>
            <a:p>
              <a:r>
                <a:rPr lang="fr-FR" dirty="0" smtClean="0"/>
                <a:t>M</a:t>
              </a:r>
              <a:r>
                <a:rPr lang="fr-FR" dirty="0"/>
                <a:t>. NGUIMBUS</a:t>
              </a:r>
            </a:p>
            <a:p>
              <a:r>
                <a:rPr lang="fr-FR" dirty="0"/>
                <a:t>Emmanuel	Professeur de système </a:t>
              </a:r>
              <a:r>
                <a:rPr lang="fr-FR" dirty="0" smtClean="0"/>
                <a:t>d’exploitation</a:t>
              </a:r>
              <a:r>
                <a:rPr lang="fr-FR" dirty="0"/>
                <a:t>	Maitre d’ouvrage </a:t>
              </a:r>
            </a:p>
            <a:p>
              <a:r>
                <a:rPr lang="fr-FR" dirty="0"/>
                <a:t>Mme. NDIOMO MBAZOA </a:t>
              </a:r>
              <a:r>
                <a:rPr lang="fr-FR" dirty="0" err="1"/>
                <a:t>Jacinta</a:t>
              </a:r>
              <a:r>
                <a:rPr lang="fr-FR" dirty="0"/>
                <a:t>	Master 1 en Sécurité des Systèmes d’Information	Maitre d’œuvre</a:t>
              </a:r>
            </a:p>
            <a:p>
              <a:r>
                <a:rPr lang="fr-FR" dirty="0"/>
                <a:t>M. LONDJI Jean Christian	Master 1 en Sécurité des Systèmes d’Information	Maitre d’œuvre</a:t>
              </a:r>
            </a:p>
          </p:txBody>
        </p:sp>
      </p:grpSp>
      <p:grpSp>
        <p:nvGrpSpPr>
          <p:cNvPr id="57" name="Groupe 56"/>
          <p:cNvGrpSpPr/>
          <p:nvPr/>
        </p:nvGrpSpPr>
        <p:grpSpPr>
          <a:xfrm>
            <a:off x="-8745492" y="-394"/>
            <a:ext cx="11558381" cy="6858000"/>
            <a:chOff x="-8774746" y="-60659"/>
            <a:chExt cx="11558381" cy="6858000"/>
          </a:xfrm>
        </p:grpSpPr>
        <p:grpSp>
          <p:nvGrpSpPr>
            <p:cNvPr id="56" name="Groupe 55"/>
            <p:cNvGrpSpPr/>
            <p:nvPr/>
          </p:nvGrpSpPr>
          <p:grpSpPr>
            <a:xfrm>
              <a:off x="-8774746" y="-60659"/>
              <a:ext cx="11558381" cy="6858000"/>
              <a:chOff x="-8774746" y="-60659"/>
              <a:chExt cx="11558381" cy="6858000"/>
            </a:xfrm>
          </p:grpSpPr>
          <p:grpSp>
            <p:nvGrpSpPr>
              <p:cNvPr id="12" name="Groupe 11"/>
              <p:cNvGrpSpPr/>
              <p:nvPr/>
            </p:nvGrpSpPr>
            <p:grpSpPr>
              <a:xfrm>
                <a:off x="-8774746" y="-60659"/>
                <a:ext cx="11558381" cy="6858000"/>
                <a:chOff x="-120315" y="0"/>
                <a:chExt cx="11558381" cy="6858000"/>
              </a:xfrm>
              <a:solidFill>
                <a:schemeClr val="accent1">
                  <a:lumMod val="10000"/>
                  <a:lumOff val="90000"/>
                </a:schemeClr>
              </a:solidFill>
              <a:effectLst>
                <a:outerShdw blurRad="266700" dist="127000" dir="2700000" algn="tl" rotWithShape="0">
                  <a:prstClr val="black">
                    <a:alpha val="40000"/>
                  </a:prstClr>
                </a:outerShdw>
              </a:effectLst>
            </p:grpSpPr>
            <p:sp>
              <p:nvSpPr>
                <p:cNvPr id="13" name="Rectangle 12"/>
                <p:cNvSpPr/>
                <p:nvPr/>
              </p:nvSpPr>
              <p:spPr>
                <a:xfrm>
                  <a:off x="-120315" y="0"/>
                  <a:ext cx="10890738"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p:cNvSpPr/>
                <p:nvPr/>
              </p:nvSpPr>
              <p:spPr>
                <a:xfrm>
                  <a:off x="10758128" y="1268730"/>
                  <a:ext cx="679938" cy="119575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dirty="0" smtClean="0">
                      <a:solidFill>
                        <a:srgbClr val="4D1434"/>
                      </a:solidFill>
                    </a:rPr>
                    <a:t>5</a:t>
                  </a:r>
                  <a:endParaRPr lang="fr-FR" sz="4000" dirty="0">
                    <a:solidFill>
                      <a:srgbClr val="4D1434"/>
                    </a:solidFill>
                  </a:endParaRPr>
                </a:p>
              </p:txBody>
            </p:sp>
          </p:grpSp>
          <p:sp>
            <p:nvSpPr>
              <p:cNvPr id="28" name="Rectangle 27"/>
              <p:cNvSpPr/>
              <p:nvPr/>
            </p:nvSpPr>
            <p:spPr>
              <a:xfrm>
                <a:off x="-6764266" y="589372"/>
                <a:ext cx="7110408" cy="923330"/>
              </a:xfrm>
              <a:prstGeom prst="rect">
                <a:avLst/>
              </a:prstGeom>
              <a:noFill/>
            </p:spPr>
            <p:txBody>
              <a:bodyPr wrap="none" lIns="91440" tIns="45720" rIns="91440" bIns="45720">
                <a:spAutoFit/>
              </a:bodyPr>
              <a:lstStyle/>
              <a:p>
                <a:pPr algn="ctr"/>
                <a:r>
                  <a:rPr lang="fr-FR" sz="5400" b="1" dirty="0" smtClean="0">
                    <a:ln w="6600">
                      <a:solidFill>
                        <a:schemeClr val="accent2"/>
                      </a:solidFill>
                      <a:prstDash val="solid"/>
                    </a:ln>
                    <a:solidFill>
                      <a:srgbClr val="FFFFFF"/>
                    </a:solidFill>
                    <a:effectLst>
                      <a:outerShdw dist="38100" dir="2700000" algn="tl" rotWithShape="0">
                        <a:schemeClr val="accent2"/>
                      </a:outerShdw>
                    </a:effectLst>
                  </a:rPr>
                  <a:t>Diagramme </a:t>
                </a:r>
                <a:r>
                  <a:rPr lang="fr-FR" sz="5400" b="1" dirty="0">
                    <a:ln w="6600">
                      <a:solidFill>
                        <a:schemeClr val="accent2"/>
                      </a:solidFill>
                      <a:prstDash val="solid"/>
                    </a:ln>
                    <a:solidFill>
                      <a:srgbClr val="FFFFFF"/>
                    </a:solidFill>
                    <a:effectLst>
                      <a:outerShdw dist="38100" dir="2700000" algn="tl" rotWithShape="0">
                        <a:schemeClr val="accent2"/>
                      </a:outerShdw>
                    </a:effectLst>
                  </a:rPr>
                  <a:t>de </a:t>
                </a:r>
                <a:r>
                  <a:rPr lang="fr-FR" sz="5400" b="1" dirty="0" smtClean="0">
                    <a:ln w="6600">
                      <a:solidFill>
                        <a:schemeClr val="accent2"/>
                      </a:solidFill>
                      <a:prstDash val="solid"/>
                    </a:ln>
                    <a:solidFill>
                      <a:srgbClr val="FFFFFF"/>
                    </a:solidFill>
                    <a:effectLst>
                      <a:outerShdw dist="38100" dir="2700000" algn="tl" rotWithShape="0">
                        <a:schemeClr val="accent2"/>
                      </a:outerShdw>
                    </a:effectLst>
                  </a:rPr>
                  <a:t>Gantt</a:t>
                </a:r>
                <a:endParaRPr lang="fr-FR" sz="5400" b="1" dirty="0">
                  <a:ln w="6600">
                    <a:solidFill>
                      <a:schemeClr val="accent2"/>
                    </a:solidFill>
                    <a:prstDash val="solid"/>
                  </a:ln>
                  <a:solidFill>
                    <a:srgbClr val="FFFFFF"/>
                  </a:solidFill>
                  <a:effectLst>
                    <a:outerShdw dist="38100" dir="2700000" algn="tl" rotWithShape="0">
                      <a:schemeClr val="accent2"/>
                    </a:outerShdw>
                  </a:effectLst>
                </a:endParaRPr>
              </a:p>
            </p:txBody>
          </p:sp>
        </p:grpSp>
        <p:pic>
          <p:nvPicPr>
            <p:cNvPr id="31" name="Image 30" descr="C:\Users\ravageur\Desktop\saint jean\IMG_20251128_152806_659.jpg"/>
            <p:cNvPicPr/>
            <p:nvPr/>
          </p:nvPicPr>
          <p:blipFill>
            <a:blip r:embed="rId2">
              <a:extLst>
                <a:ext uri="{28A0092B-C50C-407E-A947-70E740481C1C}">
                  <a14:useLocalDpi xmlns:a14="http://schemas.microsoft.com/office/drawing/2010/main" val="0"/>
                </a:ext>
              </a:extLst>
            </a:blip>
            <a:srcRect/>
            <a:stretch>
              <a:fillRect/>
            </a:stretch>
          </p:blipFill>
          <p:spPr bwMode="auto">
            <a:xfrm>
              <a:off x="-7829527" y="1855647"/>
              <a:ext cx="8897769" cy="4429861"/>
            </a:xfrm>
            <a:prstGeom prst="rect">
              <a:avLst/>
            </a:prstGeom>
            <a:noFill/>
            <a:ln>
              <a:noFill/>
            </a:ln>
          </p:spPr>
        </p:pic>
      </p:grpSp>
    </p:spTree>
    <p:extLst>
      <p:ext uri="{BB962C8B-B14F-4D97-AF65-F5344CB8AC3E}">
        <p14:creationId xmlns:p14="http://schemas.microsoft.com/office/powerpoint/2010/main" val="96819365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3.125E-6 1.11111E-6 L 0.71784 0.00231 " pathEditMode="relative" rAng="0" ptsTypes="AA">
                                      <p:cBhvr>
                                        <p:cTn id="6" dur="2000" fill="hold"/>
                                        <p:tgtEl>
                                          <p:spTgt spid="51"/>
                                        </p:tgtEl>
                                        <p:attrNameLst>
                                          <p:attrName>ppt_x</p:attrName>
                                          <p:attrName>ppt_y</p:attrName>
                                        </p:attrNameLst>
                                      </p:cBhvr>
                                      <p:rCtr x="35885" y="116"/>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3.75E-6 2.96296E-6 L 0.71783 0.00231 " pathEditMode="relative" rAng="0" ptsTypes="AA">
                                      <p:cBhvr>
                                        <p:cTn id="10" dur="2000" fill="hold"/>
                                        <p:tgtEl>
                                          <p:spTgt spid="53"/>
                                        </p:tgtEl>
                                        <p:attrNameLst>
                                          <p:attrName>ppt_x</p:attrName>
                                          <p:attrName>ppt_y</p:attrName>
                                        </p:attrNameLst>
                                      </p:cBhvr>
                                      <p:rCtr x="35885" y="116"/>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1.875E-6 -4.07407E-6 L 0.71784 0.00232 " pathEditMode="relative" rAng="0" ptsTypes="AA">
                                      <p:cBhvr>
                                        <p:cTn id="14" dur="2000" fill="hold"/>
                                        <p:tgtEl>
                                          <p:spTgt spid="50"/>
                                        </p:tgtEl>
                                        <p:attrNameLst>
                                          <p:attrName>ppt_x</p:attrName>
                                          <p:attrName>ppt_y</p:attrName>
                                        </p:attrNameLst>
                                      </p:cBhvr>
                                      <p:rCtr x="35885" y="116"/>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8.33333E-7 0 L 0.71784 0.00231 " pathEditMode="relative" rAng="0" ptsTypes="AA">
                                      <p:cBhvr>
                                        <p:cTn id="18" dur="2000" fill="hold"/>
                                        <p:tgtEl>
                                          <p:spTgt spid="57"/>
                                        </p:tgtEl>
                                        <p:attrNameLst>
                                          <p:attrName>ppt_x</p:attrName>
                                          <p:attrName>ppt_y</p:attrName>
                                        </p:attrNameLst>
                                      </p:cBhvr>
                                      <p:rCtr x="35885" y="11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lvl="0"/>
            <a:r>
              <a:rPr lang="fr-FR" b="1" dirty="0"/>
              <a:t>Estimation du cout </a:t>
            </a:r>
          </a:p>
        </p:txBody>
      </p:sp>
      <p:graphicFrame>
        <p:nvGraphicFramePr>
          <p:cNvPr id="7" name="Tableau 6"/>
          <p:cNvGraphicFramePr>
            <a:graphicFrameLocks noGrp="1"/>
          </p:cNvGraphicFramePr>
          <p:nvPr>
            <p:extLst>
              <p:ext uri="{D42A27DB-BD31-4B8C-83A1-F6EECF244321}">
                <p14:modId xmlns:p14="http://schemas.microsoft.com/office/powerpoint/2010/main" val="2228505853"/>
              </p:ext>
            </p:extLst>
          </p:nvPr>
        </p:nvGraphicFramePr>
        <p:xfrm>
          <a:off x="1247273" y="2346742"/>
          <a:ext cx="9697453" cy="2674225"/>
        </p:xfrm>
        <a:graphic>
          <a:graphicData uri="http://schemas.openxmlformats.org/drawingml/2006/table">
            <a:tbl>
              <a:tblPr firstRow="1" firstCol="1" bandRow="1">
                <a:tableStyleId>{5C22544A-7EE6-4342-B048-85BDC9FD1C3A}</a:tableStyleId>
              </a:tblPr>
              <a:tblGrid>
                <a:gridCol w="2461282">
                  <a:extLst>
                    <a:ext uri="{9D8B030D-6E8A-4147-A177-3AD203B41FA5}">
                      <a16:colId xmlns:a16="http://schemas.microsoft.com/office/drawing/2014/main" val="2705165414"/>
                    </a:ext>
                  </a:extLst>
                </a:gridCol>
                <a:gridCol w="2061058">
                  <a:extLst>
                    <a:ext uri="{9D8B030D-6E8A-4147-A177-3AD203B41FA5}">
                      <a16:colId xmlns:a16="http://schemas.microsoft.com/office/drawing/2014/main" val="2487161662"/>
                    </a:ext>
                  </a:extLst>
                </a:gridCol>
                <a:gridCol w="3076603">
                  <a:extLst>
                    <a:ext uri="{9D8B030D-6E8A-4147-A177-3AD203B41FA5}">
                      <a16:colId xmlns:a16="http://schemas.microsoft.com/office/drawing/2014/main" val="4152284956"/>
                    </a:ext>
                  </a:extLst>
                </a:gridCol>
                <a:gridCol w="2098510">
                  <a:extLst>
                    <a:ext uri="{9D8B030D-6E8A-4147-A177-3AD203B41FA5}">
                      <a16:colId xmlns:a16="http://schemas.microsoft.com/office/drawing/2014/main" val="977271034"/>
                    </a:ext>
                  </a:extLst>
                </a:gridCol>
              </a:tblGrid>
              <a:tr h="484556">
                <a:tc>
                  <a:txBody>
                    <a:bodyPr/>
                    <a:lstStyle/>
                    <a:p>
                      <a:pPr algn="ctr">
                        <a:lnSpc>
                          <a:spcPct val="150000"/>
                        </a:lnSpc>
                        <a:spcAft>
                          <a:spcPts val="0"/>
                        </a:spcAft>
                      </a:pPr>
                      <a:r>
                        <a:rPr lang="fr-FR" sz="1000">
                          <a:effectLst/>
                        </a:rPr>
                        <a:t>Ressource</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algn="ctr">
                        <a:lnSpc>
                          <a:spcPct val="150000"/>
                        </a:lnSpc>
                        <a:spcAft>
                          <a:spcPts val="0"/>
                        </a:spcAft>
                      </a:pPr>
                      <a:r>
                        <a:rPr lang="fr-FR" sz="1000">
                          <a:effectLst/>
                        </a:rPr>
                        <a:t>Description</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algn="ctr">
                        <a:lnSpc>
                          <a:spcPct val="150000"/>
                        </a:lnSpc>
                        <a:spcAft>
                          <a:spcPts val="0"/>
                        </a:spcAft>
                      </a:pPr>
                      <a:r>
                        <a:rPr lang="fr-FR" sz="1000">
                          <a:effectLst/>
                        </a:rPr>
                        <a:t>Reference</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algn="ctr">
                        <a:lnSpc>
                          <a:spcPct val="150000"/>
                        </a:lnSpc>
                        <a:spcAft>
                          <a:spcPts val="0"/>
                        </a:spcAft>
                      </a:pPr>
                      <a:r>
                        <a:rPr lang="fr-FR" sz="1000">
                          <a:effectLst/>
                        </a:rPr>
                        <a:t>Prix Unitaire/ Cout (FCFA)</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extLst>
                  <a:ext uri="{0D108BD9-81ED-4DB2-BD59-A6C34878D82A}">
                    <a16:rowId xmlns:a16="http://schemas.microsoft.com/office/drawing/2014/main" val="1067449739"/>
                  </a:ext>
                </a:extLst>
              </a:tr>
              <a:tr h="726834">
                <a:tc>
                  <a:txBody>
                    <a:bodyPr/>
                    <a:lstStyle/>
                    <a:p>
                      <a:pPr algn="ctr">
                        <a:lnSpc>
                          <a:spcPct val="150000"/>
                        </a:lnSpc>
                        <a:spcAft>
                          <a:spcPts val="0"/>
                        </a:spcAft>
                      </a:pPr>
                      <a:r>
                        <a:rPr lang="fr-FR" sz="1000" dirty="0">
                          <a:effectLst/>
                        </a:rPr>
                        <a:t>VMware Workstation 16 Pro + Licence</a:t>
                      </a:r>
                      <a:endParaRPr lang="fr-F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algn="ctr">
                        <a:lnSpc>
                          <a:spcPct val="150000"/>
                        </a:lnSpc>
                        <a:spcAft>
                          <a:spcPts val="0"/>
                        </a:spcAft>
                      </a:pPr>
                      <a:r>
                        <a:rPr lang="fr-FR" sz="1000">
                          <a:effectLst/>
                        </a:rPr>
                        <a:t>Logiciel de virtualisations de machine</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algn="ctr">
                        <a:lnSpc>
                          <a:spcPct val="150000"/>
                        </a:lnSpc>
                        <a:spcAft>
                          <a:spcPts val="0"/>
                        </a:spcAft>
                      </a:pPr>
                      <a:r>
                        <a:rPr lang="fr-FR" sz="1000">
                          <a:effectLst/>
                        </a:rPr>
                        <a:t>https://lalicence.fr/vmware-workstation-16-pro</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algn="ctr">
                        <a:lnSpc>
                          <a:spcPct val="150000"/>
                        </a:lnSpc>
                        <a:spcAft>
                          <a:spcPts val="0"/>
                        </a:spcAft>
                      </a:pPr>
                      <a:r>
                        <a:rPr lang="fr-FR" sz="1000" dirty="0" smtClean="0">
                          <a:effectLst/>
                        </a:rPr>
                        <a:t>121168Fcfa</a:t>
                      </a:r>
                      <a:endParaRPr lang="fr-F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extLst>
                  <a:ext uri="{0D108BD9-81ED-4DB2-BD59-A6C34878D82A}">
                    <a16:rowId xmlns:a16="http://schemas.microsoft.com/office/drawing/2014/main" val="1453894413"/>
                  </a:ext>
                </a:extLst>
              </a:tr>
              <a:tr h="726834">
                <a:tc>
                  <a:txBody>
                    <a:bodyPr/>
                    <a:lstStyle/>
                    <a:p>
                      <a:pPr algn="ctr">
                        <a:lnSpc>
                          <a:spcPct val="150000"/>
                        </a:lnSpc>
                        <a:spcAft>
                          <a:spcPts val="0"/>
                        </a:spcAft>
                      </a:pPr>
                      <a:r>
                        <a:rPr lang="fr-FR" sz="1000" dirty="0">
                          <a:effectLst/>
                        </a:rPr>
                        <a:t>Distribution Linux (</a:t>
                      </a:r>
                      <a:r>
                        <a:rPr lang="fr-FR" sz="1000" dirty="0" err="1">
                          <a:effectLst/>
                        </a:rPr>
                        <a:t>openSUSE</a:t>
                      </a:r>
                      <a:r>
                        <a:rPr lang="fr-FR" sz="1000" dirty="0">
                          <a:effectLst/>
                        </a:rPr>
                        <a:t>)</a:t>
                      </a:r>
                      <a:endParaRPr lang="fr-F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algn="ctr">
                        <a:lnSpc>
                          <a:spcPct val="150000"/>
                        </a:lnSpc>
                        <a:spcAft>
                          <a:spcPts val="0"/>
                        </a:spcAft>
                      </a:pPr>
                      <a:r>
                        <a:rPr lang="fr-FR" sz="1000" dirty="0">
                          <a:effectLst/>
                        </a:rPr>
                        <a:t>Système d’exploitation Linux </a:t>
                      </a:r>
                      <a:endParaRPr lang="fr-F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algn="ctr">
                        <a:lnSpc>
                          <a:spcPct val="150000"/>
                        </a:lnSpc>
                        <a:spcAft>
                          <a:spcPts val="0"/>
                        </a:spcAft>
                      </a:pPr>
                      <a:r>
                        <a:rPr lang="fr-FR" sz="1000" dirty="0">
                          <a:effectLst/>
                        </a:rPr>
                        <a:t>//</a:t>
                      </a:r>
                      <a:endParaRPr lang="fr-F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algn="ctr">
                        <a:lnSpc>
                          <a:spcPct val="150000"/>
                        </a:lnSpc>
                        <a:spcAft>
                          <a:spcPts val="0"/>
                        </a:spcAft>
                      </a:pPr>
                      <a:r>
                        <a:rPr lang="fr-FR" sz="1000">
                          <a:effectLst/>
                        </a:rPr>
                        <a:t>//</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extLst>
                  <a:ext uri="{0D108BD9-81ED-4DB2-BD59-A6C34878D82A}">
                    <a16:rowId xmlns:a16="http://schemas.microsoft.com/office/drawing/2014/main" val="608192514"/>
                  </a:ext>
                </a:extLst>
              </a:tr>
              <a:tr h="484556">
                <a:tc>
                  <a:txBody>
                    <a:bodyPr/>
                    <a:lstStyle/>
                    <a:p>
                      <a:pPr algn="ctr">
                        <a:lnSpc>
                          <a:spcPct val="150000"/>
                        </a:lnSpc>
                        <a:spcAft>
                          <a:spcPts val="0"/>
                        </a:spcAft>
                      </a:pPr>
                      <a:r>
                        <a:rPr lang="fr-FR" sz="1000" dirty="0" err="1" smtClean="0">
                          <a:effectLst/>
                          <a:latin typeface="+mn-lt"/>
                          <a:ea typeface="+mn-ea"/>
                          <a:cs typeface="+mn-cs"/>
                        </a:rPr>
                        <a:t>eBPF</a:t>
                      </a:r>
                      <a:endParaRPr lang="fr-F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algn="ctr">
                        <a:lnSpc>
                          <a:spcPct val="150000"/>
                        </a:lnSpc>
                        <a:spcAft>
                          <a:spcPts val="0"/>
                        </a:spcAft>
                      </a:pPr>
                      <a:r>
                        <a:rPr lang="fr-FR" sz="1000">
                          <a:effectLst/>
                        </a:rPr>
                        <a:t>Outil pour tracer l’activité système</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algn="ctr">
                        <a:lnSpc>
                          <a:spcPct val="150000"/>
                        </a:lnSpc>
                        <a:spcAft>
                          <a:spcPts val="0"/>
                        </a:spcAft>
                      </a:pPr>
                      <a:r>
                        <a:rPr lang="fr-FR" sz="1000">
                          <a:effectLst/>
                        </a:rPr>
                        <a:t>//</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algn="ctr">
                        <a:lnSpc>
                          <a:spcPct val="150000"/>
                        </a:lnSpc>
                        <a:spcAft>
                          <a:spcPts val="0"/>
                        </a:spcAft>
                      </a:pPr>
                      <a:r>
                        <a:rPr lang="fr-FR" sz="1000">
                          <a:effectLst/>
                        </a:rPr>
                        <a:t>//</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extLst>
                  <a:ext uri="{0D108BD9-81ED-4DB2-BD59-A6C34878D82A}">
                    <a16:rowId xmlns:a16="http://schemas.microsoft.com/office/drawing/2014/main" val="643487541"/>
                  </a:ext>
                </a:extLst>
              </a:tr>
              <a:tr h="251445">
                <a:tc gridSpan="3">
                  <a:txBody>
                    <a:bodyPr/>
                    <a:lstStyle/>
                    <a:p>
                      <a:pPr algn="ctr">
                        <a:lnSpc>
                          <a:spcPct val="150000"/>
                        </a:lnSpc>
                        <a:spcAft>
                          <a:spcPts val="0"/>
                        </a:spcAft>
                      </a:pPr>
                      <a:r>
                        <a:rPr lang="fr-FR" sz="1000">
                          <a:effectLst/>
                        </a:rPr>
                        <a:t>Total</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hMerge="1">
                  <a:txBody>
                    <a:bodyPr/>
                    <a:lstStyle/>
                    <a:p>
                      <a:endParaRPr lang="fr-FR"/>
                    </a:p>
                  </a:txBody>
                  <a:tcPr/>
                </a:tc>
                <a:tc hMerge="1">
                  <a:txBody>
                    <a:bodyPr/>
                    <a:lstStyle/>
                    <a:p>
                      <a:endParaRPr lang="fr-FR"/>
                    </a:p>
                  </a:txBody>
                  <a:tcPr/>
                </a:tc>
                <a:tc>
                  <a:txBody>
                    <a:bodyPr/>
                    <a:lstStyle/>
                    <a:p>
                      <a:pPr algn="ctr">
                        <a:lnSpc>
                          <a:spcPct val="150000"/>
                        </a:lnSpc>
                        <a:spcAft>
                          <a:spcPts val="0"/>
                        </a:spcAft>
                      </a:pPr>
                      <a:r>
                        <a:rPr lang="fr-FR" sz="1000" dirty="0" smtClean="0">
                          <a:effectLst/>
                        </a:rPr>
                        <a:t>121168Fcfa</a:t>
                      </a:r>
                      <a:endParaRPr lang="fr-F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extLst>
                  <a:ext uri="{0D108BD9-81ED-4DB2-BD59-A6C34878D82A}">
                    <a16:rowId xmlns:a16="http://schemas.microsoft.com/office/drawing/2014/main" val="3743623221"/>
                  </a:ext>
                </a:extLst>
              </a:tr>
            </a:tbl>
          </a:graphicData>
        </a:graphic>
      </p:graphicFrame>
    </p:spTree>
    <p:extLst>
      <p:ext uri="{BB962C8B-B14F-4D97-AF65-F5344CB8AC3E}">
        <p14:creationId xmlns:p14="http://schemas.microsoft.com/office/powerpoint/2010/main" val="110605371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5"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2000"/>
                                        <p:tgtEl>
                                          <p:spTgt spid="7"/>
                                        </p:tgtEl>
                                      </p:cBhvr>
                                    </p:animEffect>
                                    <p:anim calcmode="lin" valueType="num">
                                      <p:cBhvr>
                                        <p:cTn id="14" dur="2000" fill="hold"/>
                                        <p:tgtEl>
                                          <p:spTgt spid="7"/>
                                        </p:tgtEl>
                                        <p:attrNameLst>
                                          <p:attrName>ppt_w</p:attrName>
                                        </p:attrNameLst>
                                      </p:cBhvr>
                                      <p:tavLst>
                                        <p:tav tm="0" fmla="#ppt_w*sin(2.5*pi*$)">
                                          <p:val>
                                            <p:fltVal val="0"/>
                                          </p:val>
                                        </p:tav>
                                        <p:tav tm="100000">
                                          <p:val>
                                            <p:fltVal val="1"/>
                                          </p:val>
                                        </p:tav>
                                      </p:tavLst>
                                    </p:anim>
                                    <p:anim calcmode="lin" valueType="num">
                                      <p:cBhvr>
                                        <p:cTn id="15" dur="20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lvl="0"/>
            <a:r>
              <a:rPr lang="fr-FR" dirty="0"/>
              <a:t>Ressources matérielles</a:t>
            </a:r>
          </a:p>
        </p:txBody>
      </p:sp>
      <p:graphicFrame>
        <p:nvGraphicFramePr>
          <p:cNvPr id="4" name="Tableau 3"/>
          <p:cNvGraphicFramePr>
            <a:graphicFrameLocks noGrp="1"/>
          </p:cNvGraphicFramePr>
          <p:nvPr>
            <p:extLst>
              <p:ext uri="{D42A27DB-BD31-4B8C-83A1-F6EECF244321}">
                <p14:modId xmlns:p14="http://schemas.microsoft.com/office/powerpoint/2010/main" val="817831489"/>
              </p:ext>
            </p:extLst>
          </p:nvPr>
        </p:nvGraphicFramePr>
        <p:xfrm>
          <a:off x="1395663" y="2237873"/>
          <a:ext cx="8951495" cy="4018548"/>
        </p:xfrm>
        <a:graphic>
          <a:graphicData uri="http://schemas.openxmlformats.org/drawingml/2006/table">
            <a:tbl>
              <a:tblPr firstRow="1" firstCol="1" bandRow="1">
                <a:tableStyleId>{5C22544A-7EE6-4342-B048-85BDC9FD1C3A}</a:tableStyleId>
              </a:tblPr>
              <a:tblGrid>
                <a:gridCol w="1603901">
                  <a:extLst>
                    <a:ext uri="{9D8B030D-6E8A-4147-A177-3AD203B41FA5}">
                      <a16:colId xmlns:a16="http://schemas.microsoft.com/office/drawing/2014/main" val="125202233"/>
                    </a:ext>
                  </a:extLst>
                </a:gridCol>
                <a:gridCol w="1239999">
                  <a:extLst>
                    <a:ext uri="{9D8B030D-6E8A-4147-A177-3AD203B41FA5}">
                      <a16:colId xmlns:a16="http://schemas.microsoft.com/office/drawing/2014/main" val="1916850789"/>
                    </a:ext>
                  </a:extLst>
                </a:gridCol>
                <a:gridCol w="2741231">
                  <a:extLst>
                    <a:ext uri="{9D8B030D-6E8A-4147-A177-3AD203B41FA5}">
                      <a16:colId xmlns:a16="http://schemas.microsoft.com/office/drawing/2014/main" val="3467812025"/>
                    </a:ext>
                  </a:extLst>
                </a:gridCol>
                <a:gridCol w="1554848">
                  <a:extLst>
                    <a:ext uri="{9D8B030D-6E8A-4147-A177-3AD203B41FA5}">
                      <a16:colId xmlns:a16="http://schemas.microsoft.com/office/drawing/2014/main" val="1008437219"/>
                    </a:ext>
                  </a:extLst>
                </a:gridCol>
                <a:gridCol w="1811516">
                  <a:extLst>
                    <a:ext uri="{9D8B030D-6E8A-4147-A177-3AD203B41FA5}">
                      <a16:colId xmlns:a16="http://schemas.microsoft.com/office/drawing/2014/main" val="3569537227"/>
                    </a:ext>
                  </a:extLst>
                </a:gridCol>
              </a:tblGrid>
              <a:tr h="620308">
                <a:tc>
                  <a:txBody>
                    <a:bodyPr/>
                    <a:lstStyle/>
                    <a:p>
                      <a:pPr algn="ctr">
                        <a:lnSpc>
                          <a:spcPct val="150000"/>
                        </a:lnSpc>
                        <a:spcAft>
                          <a:spcPts val="0"/>
                        </a:spcAft>
                      </a:pPr>
                      <a:r>
                        <a:rPr lang="fr-FR" sz="800">
                          <a:effectLst/>
                        </a:rPr>
                        <a:t>Désignation</a:t>
                      </a:r>
                      <a:endParaRPr lang="fr-FR" sz="800">
                        <a:effectLst/>
                        <a:latin typeface="Calibri" panose="020F0502020204030204" pitchFamily="34" charset="0"/>
                        <a:ea typeface="Calibri" panose="020F0502020204030204" pitchFamily="34" charset="0"/>
                        <a:cs typeface="Times New Roman" panose="02020603050405020304" pitchFamily="18" charset="0"/>
                      </a:endParaRPr>
                    </a:p>
                  </a:txBody>
                  <a:tcPr marL="51715" marR="51715" marT="0" marB="0"/>
                </a:tc>
                <a:tc>
                  <a:txBody>
                    <a:bodyPr/>
                    <a:lstStyle/>
                    <a:p>
                      <a:pPr algn="ctr">
                        <a:lnSpc>
                          <a:spcPct val="150000"/>
                        </a:lnSpc>
                        <a:spcAft>
                          <a:spcPts val="0"/>
                        </a:spcAft>
                      </a:pPr>
                      <a:r>
                        <a:rPr lang="fr-FR" sz="800">
                          <a:effectLst/>
                        </a:rPr>
                        <a:t>Quantité</a:t>
                      </a:r>
                      <a:endParaRPr lang="fr-FR" sz="800">
                        <a:effectLst/>
                        <a:latin typeface="Calibri" panose="020F0502020204030204" pitchFamily="34" charset="0"/>
                        <a:ea typeface="Calibri" panose="020F0502020204030204" pitchFamily="34" charset="0"/>
                        <a:cs typeface="Times New Roman" panose="02020603050405020304" pitchFamily="18" charset="0"/>
                      </a:endParaRPr>
                    </a:p>
                  </a:txBody>
                  <a:tcPr marL="51715" marR="51715" marT="0" marB="0"/>
                </a:tc>
                <a:tc>
                  <a:txBody>
                    <a:bodyPr/>
                    <a:lstStyle/>
                    <a:p>
                      <a:pPr algn="ctr">
                        <a:lnSpc>
                          <a:spcPct val="150000"/>
                        </a:lnSpc>
                        <a:spcAft>
                          <a:spcPts val="0"/>
                        </a:spcAft>
                      </a:pPr>
                      <a:r>
                        <a:rPr lang="fr-FR" sz="800">
                          <a:effectLst/>
                        </a:rPr>
                        <a:t>Caractéristique</a:t>
                      </a:r>
                      <a:endParaRPr lang="fr-FR" sz="800">
                        <a:effectLst/>
                        <a:latin typeface="Calibri" panose="020F0502020204030204" pitchFamily="34" charset="0"/>
                        <a:ea typeface="Calibri" panose="020F0502020204030204" pitchFamily="34" charset="0"/>
                        <a:cs typeface="Times New Roman" panose="02020603050405020304" pitchFamily="18" charset="0"/>
                      </a:endParaRPr>
                    </a:p>
                  </a:txBody>
                  <a:tcPr marL="51715" marR="51715" marT="0" marB="0"/>
                </a:tc>
                <a:tc>
                  <a:txBody>
                    <a:bodyPr/>
                    <a:lstStyle/>
                    <a:p>
                      <a:pPr algn="ctr">
                        <a:lnSpc>
                          <a:spcPct val="150000"/>
                        </a:lnSpc>
                        <a:spcAft>
                          <a:spcPts val="0"/>
                        </a:spcAft>
                      </a:pPr>
                      <a:r>
                        <a:rPr lang="fr-FR" sz="800">
                          <a:effectLst/>
                        </a:rPr>
                        <a:t>Prix Unitaire (FCFA)</a:t>
                      </a:r>
                      <a:endParaRPr lang="fr-FR" sz="800">
                        <a:effectLst/>
                        <a:latin typeface="Calibri" panose="020F0502020204030204" pitchFamily="34" charset="0"/>
                        <a:ea typeface="Calibri" panose="020F0502020204030204" pitchFamily="34" charset="0"/>
                        <a:cs typeface="Times New Roman" panose="02020603050405020304" pitchFamily="18" charset="0"/>
                      </a:endParaRPr>
                    </a:p>
                  </a:txBody>
                  <a:tcPr marL="51715" marR="51715" marT="0" marB="0"/>
                </a:tc>
                <a:tc>
                  <a:txBody>
                    <a:bodyPr/>
                    <a:lstStyle/>
                    <a:p>
                      <a:pPr algn="ctr">
                        <a:lnSpc>
                          <a:spcPct val="150000"/>
                        </a:lnSpc>
                        <a:spcAft>
                          <a:spcPts val="0"/>
                        </a:spcAft>
                      </a:pPr>
                      <a:r>
                        <a:rPr lang="fr-FR" sz="800" dirty="0">
                          <a:effectLst/>
                        </a:rPr>
                        <a:t>Prix Total (FCFA)</a:t>
                      </a:r>
                      <a:endParaRPr lang="fr-F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51715" marR="51715" marT="0" marB="0"/>
                </a:tc>
                <a:extLst>
                  <a:ext uri="{0D108BD9-81ED-4DB2-BD59-A6C34878D82A}">
                    <a16:rowId xmlns:a16="http://schemas.microsoft.com/office/drawing/2014/main" val="4134871440"/>
                  </a:ext>
                </a:extLst>
              </a:tr>
              <a:tr h="2358726">
                <a:tc>
                  <a:txBody>
                    <a:bodyPr/>
                    <a:lstStyle/>
                    <a:p>
                      <a:pPr algn="ctr">
                        <a:lnSpc>
                          <a:spcPct val="150000"/>
                        </a:lnSpc>
                        <a:spcAft>
                          <a:spcPts val="0"/>
                        </a:spcAft>
                      </a:pPr>
                      <a:r>
                        <a:rPr lang="fr-FR" sz="800">
                          <a:effectLst/>
                        </a:rPr>
                        <a:t>Ordinateur Laptop HP PROBOOK 650</a:t>
                      </a:r>
                      <a:endParaRPr lang="fr-FR" sz="800">
                        <a:effectLst/>
                        <a:latin typeface="Calibri" panose="020F0502020204030204" pitchFamily="34" charset="0"/>
                        <a:ea typeface="Calibri" panose="020F0502020204030204" pitchFamily="34" charset="0"/>
                        <a:cs typeface="Times New Roman" panose="02020603050405020304" pitchFamily="18" charset="0"/>
                      </a:endParaRPr>
                    </a:p>
                  </a:txBody>
                  <a:tcPr marL="51715" marR="51715" marT="0" marB="0"/>
                </a:tc>
                <a:tc>
                  <a:txBody>
                    <a:bodyPr/>
                    <a:lstStyle/>
                    <a:p>
                      <a:pPr algn="ctr">
                        <a:lnSpc>
                          <a:spcPct val="150000"/>
                        </a:lnSpc>
                        <a:spcAft>
                          <a:spcPts val="0"/>
                        </a:spcAft>
                      </a:pPr>
                      <a:r>
                        <a:rPr lang="fr-FR" sz="800">
                          <a:effectLst/>
                        </a:rPr>
                        <a:t>01</a:t>
                      </a:r>
                      <a:endParaRPr lang="fr-FR" sz="800">
                        <a:effectLst/>
                        <a:latin typeface="Calibri" panose="020F0502020204030204" pitchFamily="34" charset="0"/>
                        <a:ea typeface="Calibri" panose="020F0502020204030204" pitchFamily="34" charset="0"/>
                        <a:cs typeface="Times New Roman" panose="02020603050405020304" pitchFamily="18" charset="0"/>
                      </a:endParaRPr>
                    </a:p>
                  </a:txBody>
                  <a:tcPr marL="51715" marR="51715" marT="0" marB="0"/>
                </a:tc>
                <a:tc>
                  <a:txBody>
                    <a:bodyPr/>
                    <a:lstStyle/>
                    <a:p>
                      <a:pPr marL="635" algn="just">
                        <a:lnSpc>
                          <a:spcPct val="150000"/>
                        </a:lnSpc>
                        <a:spcAft>
                          <a:spcPts val="0"/>
                        </a:spcAft>
                      </a:pPr>
                      <a:r>
                        <a:rPr lang="fr-FR" sz="900">
                          <a:effectLst/>
                        </a:rPr>
                        <a:t>Processeur Intel® </a:t>
                      </a:r>
                      <a:endParaRPr lang="fr-FR" sz="800">
                        <a:effectLst/>
                      </a:endParaRPr>
                    </a:p>
                    <a:p>
                      <a:pPr marL="635" algn="just">
                        <a:lnSpc>
                          <a:spcPct val="150000"/>
                        </a:lnSpc>
                        <a:spcAft>
                          <a:spcPts val="45"/>
                        </a:spcAft>
                      </a:pPr>
                      <a:r>
                        <a:rPr lang="fr-FR" sz="900">
                          <a:effectLst/>
                        </a:rPr>
                        <a:t>Core™ i5- Mémoire RAM 4 Go, disque dur 500 Go de stockage système d'exploitation Windows (64-bit </a:t>
                      </a:r>
                      <a:endParaRPr lang="fr-FR" sz="800">
                        <a:effectLst/>
                      </a:endParaRPr>
                    </a:p>
                    <a:p>
                      <a:pPr marL="635" algn="just">
                        <a:lnSpc>
                          <a:spcPct val="150000"/>
                        </a:lnSpc>
                        <a:spcAft>
                          <a:spcPts val="0"/>
                        </a:spcAft>
                      </a:pPr>
                      <a:r>
                        <a:rPr lang="fr-FR" sz="900">
                          <a:effectLst/>
                        </a:rPr>
                        <a:t>licence), Écran large 15,6 HD </a:t>
                      </a:r>
                      <a:endParaRPr lang="fr-FR" sz="800">
                        <a:effectLst/>
                      </a:endParaRPr>
                    </a:p>
                    <a:p>
                      <a:pPr algn="ctr">
                        <a:lnSpc>
                          <a:spcPct val="150000"/>
                        </a:lnSpc>
                        <a:spcAft>
                          <a:spcPts val="0"/>
                        </a:spcAft>
                      </a:pPr>
                      <a:r>
                        <a:rPr lang="fr-FR" sz="800">
                          <a:effectLst/>
                        </a:rPr>
                        <a:t> </a:t>
                      </a:r>
                      <a:endParaRPr lang="fr-FR" sz="800">
                        <a:effectLst/>
                        <a:latin typeface="Calibri" panose="020F0502020204030204" pitchFamily="34" charset="0"/>
                        <a:ea typeface="Calibri" panose="020F0502020204030204" pitchFamily="34" charset="0"/>
                        <a:cs typeface="Times New Roman" panose="02020603050405020304" pitchFamily="18" charset="0"/>
                      </a:endParaRPr>
                    </a:p>
                  </a:txBody>
                  <a:tcPr marL="51715" marR="51715" marT="0" marB="0"/>
                </a:tc>
                <a:tc>
                  <a:txBody>
                    <a:bodyPr/>
                    <a:lstStyle/>
                    <a:p>
                      <a:pPr algn="just">
                        <a:lnSpc>
                          <a:spcPct val="150000"/>
                        </a:lnSpc>
                        <a:spcAft>
                          <a:spcPts val="0"/>
                        </a:spcAft>
                      </a:pPr>
                      <a:r>
                        <a:rPr lang="fr-FR" sz="900">
                          <a:effectLst/>
                        </a:rPr>
                        <a:t>471 500 FCFA</a:t>
                      </a:r>
                      <a:endParaRPr lang="fr-FR" sz="800">
                        <a:effectLst/>
                        <a:latin typeface="Calibri" panose="020F0502020204030204" pitchFamily="34" charset="0"/>
                        <a:ea typeface="Calibri" panose="020F0502020204030204" pitchFamily="34" charset="0"/>
                        <a:cs typeface="Times New Roman" panose="02020603050405020304" pitchFamily="18" charset="0"/>
                      </a:endParaRPr>
                    </a:p>
                  </a:txBody>
                  <a:tcPr marL="51715" marR="51715" marT="0" marB="0"/>
                </a:tc>
                <a:tc>
                  <a:txBody>
                    <a:bodyPr/>
                    <a:lstStyle/>
                    <a:p>
                      <a:pPr algn="ctr">
                        <a:lnSpc>
                          <a:spcPct val="150000"/>
                        </a:lnSpc>
                        <a:spcAft>
                          <a:spcPts val="0"/>
                        </a:spcAft>
                      </a:pPr>
                      <a:r>
                        <a:rPr lang="fr-FR" sz="900">
                          <a:effectLst/>
                        </a:rPr>
                        <a:t>471 500 FCFA</a:t>
                      </a:r>
                      <a:endParaRPr lang="fr-FR" sz="800">
                        <a:effectLst/>
                      </a:endParaRPr>
                    </a:p>
                    <a:p>
                      <a:pPr algn="ctr">
                        <a:lnSpc>
                          <a:spcPct val="150000"/>
                        </a:lnSpc>
                        <a:spcAft>
                          <a:spcPts val="0"/>
                        </a:spcAft>
                      </a:pPr>
                      <a:r>
                        <a:rPr lang="fr-FR" sz="900">
                          <a:effectLst/>
                        </a:rPr>
                        <a:t> </a:t>
                      </a:r>
                      <a:endParaRPr lang="fr-FR" sz="800">
                        <a:effectLst/>
                      </a:endParaRPr>
                    </a:p>
                    <a:p>
                      <a:pPr algn="ctr">
                        <a:lnSpc>
                          <a:spcPct val="150000"/>
                        </a:lnSpc>
                        <a:spcAft>
                          <a:spcPts val="0"/>
                        </a:spcAft>
                      </a:pPr>
                      <a:r>
                        <a:rPr lang="fr-FR" sz="900">
                          <a:effectLst/>
                        </a:rPr>
                        <a:t> </a:t>
                      </a:r>
                      <a:endParaRPr lang="fr-FR" sz="800">
                        <a:effectLst/>
                      </a:endParaRPr>
                    </a:p>
                    <a:p>
                      <a:pPr algn="ctr">
                        <a:lnSpc>
                          <a:spcPct val="150000"/>
                        </a:lnSpc>
                        <a:spcAft>
                          <a:spcPts val="0"/>
                        </a:spcAft>
                      </a:pPr>
                      <a:r>
                        <a:rPr lang="fr-FR" sz="900">
                          <a:effectLst/>
                        </a:rPr>
                        <a:t> </a:t>
                      </a:r>
                      <a:endParaRPr lang="fr-FR" sz="800">
                        <a:effectLst/>
                      </a:endParaRPr>
                    </a:p>
                    <a:p>
                      <a:pPr algn="ctr">
                        <a:lnSpc>
                          <a:spcPct val="150000"/>
                        </a:lnSpc>
                        <a:spcAft>
                          <a:spcPts val="0"/>
                        </a:spcAft>
                      </a:pPr>
                      <a:r>
                        <a:rPr lang="fr-FR" sz="900">
                          <a:effectLst/>
                        </a:rPr>
                        <a:t> </a:t>
                      </a:r>
                      <a:endParaRPr lang="fr-FR" sz="800">
                        <a:effectLst/>
                      </a:endParaRPr>
                    </a:p>
                    <a:p>
                      <a:pPr algn="ctr">
                        <a:lnSpc>
                          <a:spcPct val="150000"/>
                        </a:lnSpc>
                        <a:spcAft>
                          <a:spcPts val="0"/>
                        </a:spcAft>
                      </a:pPr>
                      <a:r>
                        <a:rPr lang="fr-FR" sz="900">
                          <a:effectLst/>
                        </a:rPr>
                        <a:t> </a:t>
                      </a:r>
                      <a:endParaRPr lang="fr-FR" sz="800">
                        <a:effectLst/>
                      </a:endParaRPr>
                    </a:p>
                    <a:p>
                      <a:pPr algn="ctr">
                        <a:lnSpc>
                          <a:spcPct val="150000"/>
                        </a:lnSpc>
                        <a:spcAft>
                          <a:spcPts val="0"/>
                        </a:spcAft>
                      </a:pPr>
                      <a:r>
                        <a:rPr lang="fr-FR" sz="900">
                          <a:effectLst/>
                        </a:rPr>
                        <a:t> </a:t>
                      </a:r>
                      <a:endParaRPr lang="fr-FR" sz="800">
                        <a:effectLst/>
                      </a:endParaRPr>
                    </a:p>
                    <a:p>
                      <a:pPr>
                        <a:lnSpc>
                          <a:spcPct val="150000"/>
                        </a:lnSpc>
                        <a:spcAft>
                          <a:spcPts val="0"/>
                        </a:spcAft>
                      </a:pPr>
                      <a:r>
                        <a:rPr lang="fr-FR" sz="1000">
                          <a:effectLst/>
                        </a:rPr>
                        <a:t> </a:t>
                      </a:r>
                      <a:endParaRPr lang="fr-FR" sz="800">
                        <a:effectLst/>
                        <a:latin typeface="Calibri" panose="020F0502020204030204" pitchFamily="34" charset="0"/>
                        <a:ea typeface="Calibri" panose="020F0502020204030204" pitchFamily="34" charset="0"/>
                        <a:cs typeface="Times New Roman" panose="02020603050405020304" pitchFamily="18" charset="0"/>
                      </a:endParaRPr>
                    </a:p>
                  </a:txBody>
                  <a:tcPr marL="51715" marR="51715" marT="0" marB="0"/>
                </a:tc>
                <a:extLst>
                  <a:ext uri="{0D108BD9-81ED-4DB2-BD59-A6C34878D82A}">
                    <a16:rowId xmlns:a16="http://schemas.microsoft.com/office/drawing/2014/main" val="4045341630"/>
                  </a:ext>
                </a:extLst>
              </a:tr>
              <a:tr h="801659">
                <a:tc>
                  <a:txBody>
                    <a:bodyPr/>
                    <a:lstStyle/>
                    <a:p>
                      <a:pPr algn="ctr">
                        <a:lnSpc>
                          <a:spcPct val="150000"/>
                        </a:lnSpc>
                        <a:spcAft>
                          <a:spcPts val="0"/>
                        </a:spcAft>
                      </a:pPr>
                      <a:r>
                        <a:rPr lang="fr-FR" sz="800">
                          <a:effectLst/>
                        </a:rPr>
                        <a:t>MODEM</a:t>
                      </a:r>
                      <a:endParaRPr lang="fr-FR" sz="800">
                        <a:effectLst/>
                        <a:latin typeface="Calibri" panose="020F0502020204030204" pitchFamily="34" charset="0"/>
                        <a:ea typeface="Calibri" panose="020F0502020204030204" pitchFamily="34" charset="0"/>
                        <a:cs typeface="Times New Roman" panose="02020603050405020304" pitchFamily="18" charset="0"/>
                      </a:endParaRPr>
                    </a:p>
                  </a:txBody>
                  <a:tcPr marL="51715" marR="51715" marT="0" marB="0"/>
                </a:tc>
                <a:tc>
                  <a:txBody>
                    <a:bodyPr/>
                    <a:lstStyle/>
                    <a:p>
                      <a:pPr algn="ctr">
                        <a:lnSpc>
                          <a:spcPct val="150000"/>
                        </a:lnSpc>
                        <a:spcAft>
                          <a:spcPts val="0"/>
                        </a:spcAft>
                      </a:pPr>
                      <a:r>
                        <a:rPr lang="fr-FR" sz="800">
                          <a:effectLst/>
                        </a:rPr>
                        <a:t>01</a:t>
                      </a:r>
                      <a:endParaRPr lang="fr-FR" sz="800">
                        <a:effectLst/>
                        <a:latin typeface="Calibri" panose="020F0502020204030204" pitchFamily="34" charset="0"/>
                        <a:ea typeface="Calibri" panose="020F0502020204030204" pitchFamily="34" charset="0"/>
                        <a:cs typeface="Times New Roman" panose="02020603050405020304" pitchFamily="18" charset="0"/>
                      </a:endParaRPr>
                    </a:p>
                  </a:txBody>
                  <a:tcPr marL="51715" marR="51715" marT="0" marB="0"/>
                </a:tc>
                <a:tc>
                  <a:txBody>
                    <a:bodyPr/>
                    <a:lstStyle/>
                    <a:p>
                      <a:pPr marR="49530" algn="ctr">
                        <a:lnSpc>
                          <a:spcPct val="150000"/>
                        </a:lnSpc>
                        <a:spcAft>
                          <a:spcPts val="800"/>
                        </a:spcAft>
                      </a:pPr>
                      <a:r>
                        <a:rPr lang="en-US" sz="900">
                          <a:effectLst/>
                        </a:rPr>
                        <a:t>MODEM WIFI 3G </a:t>
                      </a:r>
                      <a:endParaRPr lang="fr-FR" sz="800">
                        <a:effectLst/>
                      </a:endParaRPr>
                    </a:p>
                    <a:p>
                      <a:pPr marL="635" algn="just">
                        <a:lnSpc>
                          <a:spcPct val="150000"/>
                        </a:lnSpc>
                        <a:spcAft>
                          <a:spcPts val="0"/>
                        </a:spcAft>
                      </a:pPr>
                      <a:r>
                        <a:rPr lang="en-US" sz="900">
                          <a:effectLst/>
                        </a:rPr>
                        <a:t>MOBILE TP LINK M5250</a:t>
                      </a:r>
                      <a:endParaRPr lang="fr-FR" sz="800">
                        <a:effectLst/>
                        <a:latin typeface="Calibri" panose="020F0502020204030204" pitchFamily="34" charset="0"/>
                        <a:ea typeface="Calibri" panose="020F0502020204030204" pitchFamily="34" charset="0"/>
                        <a:cs typeface="Times New Roman" panose="02020603050405020304" pitchFamily="18" charset="0"/>
                      </a:endParaRPr>
                    </a:p>
                  </a:txBody>
                  <a:tcPr marL="51715" marR="51715" marT="0" marB="0"/>
                </a:tc>
                <a:tc>
                  <a:txBody>
                    <a:bodyPr/>
                    <a:lstStyle/>
                    <a:p>
                      <a:pPr algn="just">
                        <a:lnSpc>
                          <a:spcPct val="150000"/>
                        </a:lnSpc>
                        <a:spcAft>
                          <a:spcPts val="0"/>
                        </a:spcAft>
                      </a:pPr>
                      <a:r>
                        <a:rPr lang="fr-FR" sz="900">
                          <a:effectLst/>
                        </a:rPr>
                        <a:t>51 750Fcfa</a:t>
                      </a:r>
                      <a:endParaRPr lang="fr-FR" sz="800">
                        <a:effectLst/>
                        <a:latin typeface="Calibri" panose="020F0502020204030204" pitchFamily="34" charset="0"/>
                        <a:ea typeface="Calibri" panose="020F0502020204030204" pitchFamily="34" charset="0"/>
                        <a:cs typeface="Times New Roman" panose="02020603050405020304" pitchFamily="18" charset="0"/>
                      </a:endParaRPr>
                    </a:p>
                  </a:txBody>
                  <a:tcPr marL="51715" marR="51715" marT="0" marB="0"/>
                </a:tc>
                <a:tc>
                  <a:txBody>
                    <a:bodyPr/>
                    <a:lstStyle/>
                    <a:p>
                      <a:pPr algn="ctr">
                        <a:lnSpc>
                          <a:spcPct val="150000"/>
                        </a:lnSpc>
                        <a:spcAft>
                          <a:spcPts val="0"/>
                        </a:spcAft>
                      </a:pPr>
                      <a:r>
                        <a:rPr lang="fr-FR" sz="900">
                          <a:effectLst/>
                        </a:rPr>
                        <a:t>51 750Fcfa</a:t>
                      </a:r>
                      <a:endParaRPr lang="fr-FR" sz="800">
                        <a:effectLst/>
                        <a:latin typeface="Calibri" panose="020F0502020204030204" pitchFamily="34" charset="0"/>
                        <a:ea typeface="Calibri" panose="020F0502020204030204" pitchFamily="34" charset="0"/>
                        <a:cs typeface="Times New Roman" panose="02020603050405020304" pitchFamily="18" charset="0"/>
                      </a:endParaRPr>
                    </a:p>
                  </a:txBody>
                  <a:tcPr marL="51715" marR="51715" marT="0" marB="0"/>
                </a:tc>
                <a:extLst>
                  <a:ext uri="{0D108BD9-81ED-4DB2-BD59-A6C34878D82A}">
                    <a16:rowId xmlns:a16="http://schemas.microsoft.com/office/drawing/2014/main" val="1583183578"/>
                  </a:ext>
                </a:extLst>
              </a:tr>
              <a:tr h="237855">
                <a:tc gridSpan="4">
                  <a:txBody>
                    <a:bodyPr/>
                    <a:lstStyle/>
                    <a:p>
                      <a:pPr algn="just">
                        <a:lnSpc>
                          <a:spcPct val="150000"/>
                        </a:lnSpc>
                        <a:spcAft>
                          <a:spcPts val="0"/>
                        </a:spcAft>
                      </a:pPr>
                      <a:r>
                        <a:rPr lang="fr-FR" sz="900">
                          <a:effectLst/>
                        </a:rPr>
                        <a:t>TOTAL</a:t>
                      </a:r>
                      <a:endParaRPr lang="fr-FR" sz="800">
                        <a:effectLst/>
                        <a:latin typeface="Calibri" panose="020F0502020204030204" pitchFamily="34" charset="0"/>
                        <a:ea typeface="Calibri" panose="020F0502020204030204" pitchFamily="34" charset="0"/>
                        <a:cs typeface="Times New Roman" panose="02020603050405020304" pitchFamily="18" charset="0"/>
                      </a:endParaRPr>
                    </a:p>
                  </a:txBody>
                  <a:tcPr marL="51715" marR="51715" marT="0" marB="0"/>
                </a:tc>
                <a:tc hMerge="1">
                  <a:txBody>
                    <a:bodyPr/>
                    <a:lstStyle/>
                    <a:p>
                      <a:endParaRPr lang="fr-FR"/>
                    </a:p>
                  </a:txBody>
                  <a:tcPr/>
                </a:tc>
                <a:tc hMerge="1">
                  <a:txBody>
                    <a:bodyPr/>
                    <a:lstStyle/>
                    <a:p>
                      <a:endParaRPr lang="fr-FR"/>
                    </a:p>
                  </a:txBody>
                  <a:tcPr/>
                </a:tc>
                <a:tc hMerge="1">
                  <a:txBody>
                    <a:bodyPr/>
                    <a:lstStyle/>
                    <a:p>
                      <a:endParaRPr lang="fr-FR"/>
                    </a:p>
                  </a:txBody>
                  <a:tcPr/>
                </a:tc>
                <a:tc>
                  <a:txBody>
                    <a:bodyPr/>
                    <a:lstStyle/>
                    <a:p>
                      <a:pPr algn="ctr">
                        <a:lnSpc>
                          <a:spcPct val="150000"/>
                        </a:lnSpc>
                        <a:spcAft>
                          <a:spcPts val="0"/>
                        </a:spcAft>
                      </a:pPr>
                      <a:r>
                        <a:rPr lang="fr-FR" sz="900" dirty="0">
                          <a:effectLst/>
                        </a:rPr>
                        <a:t>523 250Fcfa</a:t>
                      </a:r>
                      <a:endParaRPr lang="fr-F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51715" marR="51715" marT="0" marB="0"/>
                </a:tc>
                <a:extLst>
                  <a:ext uri="{0D108BD9-81ED-4DB2-BD59-A6C34878D82A}">
                    <a16:rowId xmlns:a16="http://schemas.microsoft.com/office/drawing/2014/main" val="4031858896"/>
                  </a:ext>
                </a:extLst>
              </a:tr>
            </a:tbl>
          </a:graphicData>
        </a:graphic>
      </p:graphicFrame>
    </p:spTree>
    <p:extLst>
      <p:ext uri="{BB962C8B-B14F-4D97-AF65-F5344CB8AC3E}">
        <p14:creationId xmlns:p14="http://schemas.microsoft.com/office/powerpoint/2010/main" val="108632147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2"/>
                                        </p:tgtEl>
                                      </p:cBhvr>
                                    </p:animEffect>
                                    <p:animScale>
                                      <p:cBhvr>
                                        <p:cTn id="7" dur="250" autoRev="1" fill="hold"/>
                                        <p:tgtEl>
                                          <p:spTgt spid="2"/>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heel(1)">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Estimation totale</a:t>
            </a:r>
            <a:br>
              <a:rPr lang="fr-FR" dirty="0"/>
            </a:br>
            <a:endParaRPr lang="fr-FR" dirty="0"/>
          </a:p>
        </p:txBody>
      </p:sp>
      <p:graphicFrame>
        <p:nvGraphicFramePr>
          <p:cNvPr id="4" name="Tableau 3"/>
          <p:cNvGraphicFramePr>
            <a:graphicFrameLocks noGrp="1"/>
          </p:cNvGraphicFramePr>
          <p:nvPr>
            <p:extLst>
              <p:ext uri="{D42A27DB-BD31-4B8C-83A1-F6EECF244321}">
                <p14:modId xmlns:p14="http://schemas.microsoft.com/office/powerpoint/2010/main" val="3801146837"/>
              </p:ext>
            </p:extLst>
          </p:nvPr>
        </p:nvGraphicFramePr>
        <p:xfrm>
          <a:off x="1054768" y="2719131"/>
          <a:ext cx="10082464" cy="3344784"/>
        </p:xfrm>
        <a:graphic>
          <a:graphicData uri="http://schemas.openxmlformats.org/drawingml/2006/table">
            <a:tbl>
              <a:tblPr firstRow="1" firstCol="1" bandRow="1">
                <a:tableStyleId>{5C22544A-7EE6-4342-B048-85BDC9FD1C3A}</a:tableStyleId>
              </a:tblPr>
              <a:tblGrid>
                <a:gridCol w="5041232">
                  <a:extLst>
                    <a:ext uri="{9D8B030D-6E8A-4147-A177-3AD203B41FA5}">
                      <a16:colId xmlns:a16="http://schemas.microsoft.com/office/drawing/2014/main" val="2742552053"/>
                    </a:ext>
                  </a:extLst>
                </a:gridCol>
                <a:gridCol w="5041232">
                  <a:extLst>
                    <a:ext uri="{9D8B030D-6E8A-4147-A177-3AD203B41FA5}">
                      <a16:colId xmlns:a16="http://schemas.microsoft.com/office/drawing/2014/main" val="2432909576"/>
                    </a:ext>
                  </a:extLst>
                </a:gridCol>
              </a:tblGrid>
              <a:tr h="557464">
                <a:tc>
                  <a:txBody>
                    <a:bodyPr/>
                    <a:lstStyle/>
                    <a:p>
                      <a:pPr algn="ctr">
                        <a:lnSpc>
                          <a:spcPct val="150000"/>
                        </a:lnSpc>
                        <a:spcAft>
                          <a:spcPts val="800"/>
                        </a:spcAft>
                      </a:pPr>
                      <a:r>
                        <a:rPr lang="fr-FR" sz="1200" dirty="0">
                          <a:effectLst/>
                        </a:rPr>
                        <a:t>Désignation</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pPr>
                      <a:r>
                        <a:rPr lang="fr-FR" sz="1200" dirty="0">
                          <a:effectLst/>
                        </a:rPr>
                        <a:t>Montants</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03839245"/>
                  </a:ext>
                </a:extLst>
              </a:tr>
              <a:tr h="557464">
                <a:tc>
                  <a:txBody>
                    <a:bodyPr/>
                    <a:lstStyle/>
                    <a:p>
                      <a:pPr algn="ctr">
                        <a:lnSpc>
                          <a:spcPct val="150000"/>
                        </a:lnSpc>
                        <a:spcAft>
                          <a:spcPts val="800"/>
                        </a:spcAft>
                      </a:pPr>
                      <a:r>
                        <a:rPr lang="fr-FR" sz="1200">
                          <a:effectLst/>
                        </a:rPr>
                        <a:t>Ressources Logicielles</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800"/>
                        </a:spcAft>
                      </a:pPr>
                      <a:r>
                        <a:rPr lang="fr-FR" sz="1200" dirty="0">
                          <a:effectLst/>
                        </a:rPr>
                        <a:t>                       </a:t>
                      </a:r>
                      <a:r>
                        <a:rPr lang="fr-FR" sz="1200" dirty="0" smtClean="0">
                          <a:effectLst/>
                        </a:rPr>
                        <a:t>                         </a:t>
                      </a:r>
                      <a:r>
                        <a:rPr lang="fr-FR" sz="1800" kern="1200" dirty="0" smtClean="0">
                          <a:solidFill>
                            <a:schemeClr val="dk1"/>
                          </a:solidFill>
                          <a:effectLst/>
                          <a:latin typeface="+mn-lt"/>
                          <a:ea typeface="+mn-ea"/>
                          <a:cs typeface="+mn-cs"/>
                        </a:rPr>
                        <a:t>121168Fcfa</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01881248"/>
                  </a:ext>
                </a:extLst>
              </a:tr>
              <a:tr h="557464">
                <a:tc>
                  <a:txBody>
                    <a:bodyPr/>
                    <a:lstStyle/>
                    <a:p>
                      <a:pPr algn="ctr">
                        <a:lnSpc>
                          <a:spcPct val="150000"/>
                        </a:lnSpc>
                        <a:spcAft>
                          <a:spcPts val="800"/>
                        </a:spcAft>
                      </a:pPr>
                      <a:r>
                        <a:rPr lang="fr-FR" sz="1200" dirty="0">
                          <a:effectLst/>
                        </a:rPr>
                        <a:t>Ressources matérielles</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pPr>
                      <a:r>
                        <a:rPr lang="fr-FR" sz="1200">
                          <a:effectLst/>
                        </a:rPr>
                        <a:t>523 250 Fcfa</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77329861"/>
                  </a:ext>
                </a:extLst>
              </a:tr>
              <a:tr h="557464">
                <a:tc>
                  <a:txBody>
                    <a:bodyPr/>
                    <a:lstStyle/>
                    <a:p>
                      <a:pPr algn="ctr">
                        <a:lnSpc>
                          <a:spcPct val="150000"/>
                        </a:lnSpc>
                        <a:spcAft>
                          <a:spcPts val="800"/>
                        </a:spcAft>
                      </a:pPr>
                      <a:r>
                        <a:rPr lang="fr-FR" sz="1200">
                          <a:effectLst/>
                        </a:rPr>
                        <a:t>Ressources Humaines</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pPr>
                      <a:r>
                        <a:rPr lang="fr-FR" sz="1800" kern="1200" dirty="0" smtClean="0">
                          <a:solidFill>
                            <a:schemeClr val="dk1"/>
                          </a:solidFill>
                          <a:effectLst/>
                          <a:latin typeface="+mn-lt"/>
                          <a:ea typeface="+mn-ea"/>
                          <a:cs typeface="+mn-cs"/>
                        </a:rPr>
                        <a:t>4550000Fcfa</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27992316"/>
                  </a:ext>
                </a:extLst>
              </a:tr>
              <a:tr h="557464">
                <a:tc>
                  <a:txBody>
                    <a:bodyPr/>
                    <a:lstStyle/>
                    <a:p>
                      <a:pPr algn="ctr">
                        <a:lnSpc>
                          <a:spcPct val="150000"/>
                        </a:lnSpc>
                        <a:spcAft>
                          <a:spcPts val="800"/>
                        </a:spcAft>
                      </a:pPr>
                      <a:r>
                        <a:rPr lang="fr-FR" sz="1200">
                          <a:effectLst/>
                        </a:rPr>
                        <a:t>Imprévus (10</a:t>
                      </a:r>
                      <a:r>
                        <a:rPr lang="en-US" sz="1200">
                          <a:effectLst/>
                        </a:rPr>
                        <a:t>%</a:t>
                      </a:r>
                      <a:r>
                        <a:rPr lang="fr-FR" sz="1200">
                          <a:effectLst/>
                        </a:rPr>
                        <a:t>)</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pPr>
                      <a:r>
                        <a:rPr lang="fr-FR" sz="1200">
                          <a:effectLst/>
                        </a:rPr>
                        <a:t>380 000Fcfa</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41935428"/>
                  </a:ext>
                </a:extLst>
              </a:tr>
              <a:tr h="557464">
                <a:tc>
                  <a:txBody>
                    <a:bodyPr/>
                    <a:lstStyle/>
                    <a:p>
                      <a:pPr algn="ctr">
                        <a:lnSpc>
                          <a:spcPct val="150000"/>
                        </a:lnSpc>
                        <a:spcAft>
                          <a:spcPts val="800"/>
                        </a:spcAft>
                      </a:pPr>
                      <a:r>
                        <a:rPr lang="fr-FR" sz="1200">
                          <a:effectLst/>
                        </a:rPr>
                        <a:t>Total</a:t>
                      </a:r>
                      <a:endParaRPr lang="fr-F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pPr>
                      <a:r>
                        <a:rPr lang="fr-FR" sz="1800" b="1" kern="1200" dirty="0" smtClean="0">
                          <a:solidFill>
                            <a:schemeClr val="dk1"/>
                          </a:solidFill>
                          <a:effectLst/>
                          <a:latin typeface="+mn-lt"/>
                          <a:ea typeface="+mn-ea"/>
                          <a:cs typeface="+mn-cs"/>
                        </a:rPr>
                        <a:t>5 574 418 </a:t>
                      </a:r>
                      <a:r>
                        <a:rPr lang="fr-FR" sz="1800" b="1" kern="1200" dirty="0" err="1" smtClean="0">
                          <a:solidFill>
                            <a:schemeClr val="dk1"/>
                          </a:solidFill>
                          <a:effectLst/>
                          <a:latin typeface="+mn-lt"/>
                          <a:ea typeface="+mn-ea"/>
                          <a:cs typeface="+mn-cs"/>
                        </a:rPr>
                        <a:t>Fcfa</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7677787"/>
                  </a:ext>
                </a:extLst>
              </a:tr>
            </a:tbl>
          </a:graphicData>
        </a:graphic>
      </p:graphicFrame>
    </p:spTree>
    <p:extLst>
      <p:ext uri="{BB962C8B-B14F-4D97-AF65-F5344CB8AC3E}">
        <p14:creationId xmlns:p14="http://schemas.microsoft.com/office/powerpoint/2010/main" val="249894730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25000"/>
            <a:lumOff val="75000"/>
          </a:schemeClr>
        </a:solidFill>
        <a:effectLst/>
      </p:bgPr>
    </p:bg>
    <p:spTree>
      <p:nvGrpSpPr>
        <p:cNvPr id="1" name=""/>
        <p:cNvGrpSpPr/>
        <p:nvPr/>
      </p:nvGrpSpPr>
      <p:grpSpPr>
        <a:xfrm>
          <a:off x="0" y="0"/>
          <a:ext cx="0" cy="0"/>
          <a:chOff x="0" y="0"/>
          <a:chExt cx="0" cy="0"/>
        </a:xfrm>
      </p:grpSpPr>
      <p:grpSp>
        <p:nvGrpSpPr>
          <p:cNvPr id="59" name="Groupe 58"/>
          <p:cNvGrpSpPr/>
          <p:nvPr/>
        </p:nvGrpSpPr>
        <p:grpSpPr>
          <a:xfrm>
            <a:off x="5107555" y="485578"/>
            <a:ext cx="4816788" cy="1670304"/>
            <a:chOff x="5107555" y="485578"/>
            <a:chExt cx="4816788" cy="1670304"/>
          </a:xfrm>
        </p:grpSpPr>
        <p:grpSp>
          <p:nvGrpSpPr>
            <p:cNvPr id="16" name="Groupe 15"/>
            <p:cNvGrpSpPr/>
            <p:nvPr/>
          </p:nvGrpSpPr>
          <p:grpSpPr>
            <a:xfrm>
              <a:off x="5107555" y="485578"/>
              <a:ext cx="4816788" cy="1670304"/>
              <a:chOff x="5083171" y="959496"/>
              <a:chExt cx="4816788" cy="1670304"/>
            </a:xfrm>
          </p:grpSpPr>
          <p:grpSp>
            <p:nvGrpSpPr>
              <p:cNvPr id="7" name="Groupe 6"/>
              <p:cNvGrpSpPr/>
              <p:nvPr/>
            </p:nvGrpSpPr>
            <p:grpSpPr>
              <a:xfrm>
                <a:off x="5083171" y="959496"/>
                <a:ext cx="829056" cy="1670304"/>
                <a:chOff x="5062992" y="1547568"/>
                <a:chExt cx="829056" cy="1670304"/>
              </a:xfrm>
            </p:grpSpPr>
            <p:cxnSp>
              <p:nvCxnSpPr>
                <p:cNvPr id="4" name="Connecteur droit 3"/>
                <p:cNvCxnSpPr/>
                <p:nvPr/>
              </p:nvCxnSpPr>
              <p:spPr>
                <a:xfrm>
                  <a:off x="5453136" y="1547568"/>
                  <a:ext cx="24384" cy="1670304"/>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5" name="Ellipse 4"/>
                <p:cNvSpPr/>
                <p:nvPr/>
              </p:nvSpPr>
              <p:spPr>
                <a:xfrm>
                  <a:off x="5062992" y="2184720"/>
                  <a:ext cx="829056" cy="396000"/>
                </a:xfrm>
                <a:prstGeom prst="ellipse">
                  <a:avLst/>
                </a:prstGeom>
                <a:solidFill>
                  <a:srgbClr val="EAADC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Ellipse 5"/>
                <p:cNvSpPr/>
                <p:nvPr/>
              </p:nvSpPr>
              <p:spPr>
                <a:xfrm>
                  <a:off x="5373120" y="2278320"/>
                  <a:ext cx="208800" cy="208800"/>
                </a:xfrm>
                <a:prstGeom prst="ellipse">
                  <a:avLst/>
                </a:prstGeom>
                <a:solidFill>
                  <a:schemeClr val="accent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5" name="Groupe 14"/>
              <p:cNvGrpSpPr/>
              <p:nvPr/>
            </p:nvGrpSpPr>
            <p:grpSpPr>
              <a:xfrm>
                <a:off x="5992243" y="1503048"/>
                <a:ext cx="3907716" cy="583200"/>
                <a:chOff x="5992243" y="1503048"/>
                <a:chExt cx="3907716" cy="583200"/>
              </a:xfrm>
            </p:grpSpPr>
            <p:grpSp>
              <p:nvGrpSpPr>
                <p:cNvPr id="12" name="Groupe 11"/>
                <p:cNvGrpSpPr/>
                <p:nvPr/>
              </p:nvGrpSpPr>
              <p:grpSpPr>
                <a:xfrm>
                  <a:off x="5992243" y="1503048"/>
                  <a:ext cx="3907716" cy="583200"/>
                  <a:chOff x="6901260" y="1731264"/>
                  <a:chExt cx="3907716" cy="583200"/>
                </a:xfrm>
              </p:grpSpPr>
              <p:grpSp>
                <p:nvGrpSpPr>
                  <p:cNvPr id="10" name="Groupe 9"/>
                  <p:cNvGrpSpPr/>
                  <p:nvPr/>
                </p:nvGrpSpPr>
                <p:grpSpPr>
                  <a:xfrm>
                    <a:off x="6901260" y="1731264"/>
                    <a:ext cx="3907716" cy="583200"/>
                    <a:chOff x="6901260" y="1731264"/>
                    <a:chExt cx="3907716" cy="583200"/>
                  </a:xfrm>
                </p:grpSpPr>
                <p:sp>
                  <p:nvSpPr>
                    <p:cNvPr id="8" name="Rectangle à coins arrondis 7"/>
                    <p:cNvSpPr/>
                    <p:nvPr/>
                  </p:nvSpPr>
                  <p:spPr>
                    <a:xfrm>
                      <a:off x="7046976" y="1731264"/>
                      <a:ext cx="3762000" cy="583200"/>
                    </a:xfrm>
                    <a:prstGeom prst="round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Triangle isocèle 8"/>
                    <p:cNvSpPr/>
                    <p:nvPr/>
                  </p:nvSpPr>
                  <p:spPr>
                    <a:xfrm rot="15893933">
                      <a:off x="6919260" y="1934664"/>
                      <a:ext cx="140400" cy="176400"/>
                    </a:xfrm>
                    <a:prstGeom prst="triangle">
                      <a:avLst/>
                    </a:prstGeom>
                    <a:solidFill>
                      <a:srgbClr val="9F29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1" name="Ellipse 10"/>
                  <p:cNvSpPr/>
                  <p:nvPr/>
                </p:nvSpPr>
                <p:spPr>
                  <a:xfrm>
                    <a:off x="7120129" y="1754256"/>
                    <a:ext cx="493130" cy="537216"/>
                  </a:xfrm>
                  <a:prstGeom prst="ellipse">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3" name="Rectangle 12"/>
                <p:cNvSpPr/>
                <p:nvPr/>
              </p:nvSpPr>
              <p:spPr>
                <a:xfrm>
                  <a:off x="6275576" y="1515652"/>
                  <a:ext cx="364202" cy="523220"/>
                </a:xfrm>
                <a:prstGeom prst="rect">
                  <a:avLst/>
                </a:prstGeom>
                <a:noFill/>
              </p:spPr>
              <p:txBody>
                <a:bodyPr wrap="none" lIns="91440" tIns="45720" rIns="91440" bIns="45720">
                  <a:spAutoFit/>
                </a:bodyPr>
                <a:lstStyle/>
                <a:p>
                  <a:pPr algn="ctr"/>
                  <a:r>
                    <a:rPr lang="fr-FR" sz="2800" b="0" cap="none" spc="0" dirty="0" smtClean="0">
                      <a:ln w="0"/>
                      <a:solidFill>
                        <a:schemeClr val="tx1"/>
                      </a:solidFill>
                      <a:effectLst>
                        <a:outerShdw blurRad="38100" dist="19050" dir="2700000" algn="tl" rotWithShape="0">
                          <a:schemeClr val="dk1">
                            <a:alpha val="40000"/>
                          </a:schemeClr>
                        </a:outerShdw>
                      </a:effectLst>
                    </a:rPr>
                    <a:t>1</a:t>
                  </a:r>
                  <a:endParaRPr lang="fr-FR" sz="2800" b="0" cap="none" spc="0" dirty="0">
                    <a:ln w="0"/>
                    <a:solidFill>
                      <a:schemeClr val="tx1"/>
                    </a:solidFill>
                    <a:effectLst>
                      <a:outerShdw blurRad="38100" dist="19050" dir="2700000" algn="tl" rotWithShape="0">
                        <a:schemeClr val="dk1">
                          <a:alpha val="40000"/>
                        </a:schemeClr>
                      </a:outerShdw>
                    </a:effectLst>
                  </a:endParaRPr>
                </a:p>
              </p:txBody>
            </p:sp>
          </p:grpSp>
        </p:grpSp>
        <p:sp>
          <p:nvSpPr>
            <p:cNvPr id="14" name="Rectangle 13"/>
            <p:cNvSpPr/>
            <p:nvPr/>
          </p:nvSpPr>
          <p:spPr>
            <a:xfrm>
              <a:off x="6719883" y="1027738"/>
              <a:ext cx="3081293" cy="523220"/>
            </a:xfrm>
            <a:prstGeom prst="rect">
              <a:avLst/>
            </a:prstGeom>
            <a:noFill/>
          </p:spPr>
          <p:txBody>
            <a:bodyPr wrap="none" lIns="91440" tIns="45720" rIns="91440" bIns="45720">
              <a:spAutoFit/>
            </a:bodyPr>
            <a:lstStyle/>
            <a:p>
              <a:pPr algn="ctr"/>
              <a:r>
                <a:rPr lang="fr-FR" sz="2800" dirty="0">
                  <a:solidFill>
                    <a:schemeClr val="bg1"/>
                  </a:solidFill>
                  <a:latin typeface="Times New Roman" panose="02020603050405020304" pitchFamily="18" charset="0"/>
                  <a:ea typeface="Calibri" panose="020F0502020204030204" pitchFamily="34" charset="0"/>
                </a:rPr>
                <a:t>Contrainte de Délai </a:t>
              </a:r>
              <a:endParaRPr lang="fr-FR" sz="2800" b="0" cap="none" spc="0" dirty="0">
                <a:ln w="0"/>
                <a:solidFill>
                  <a:schemeClr val="bg1"/>
                </a:solidFill>
                <a:effectLst>
                  <a:outerShdw blurRad="38100" dist="19050" dir="2700000" algn="tl" rotWithShape="0">
                    <a:schemeClr val="dk1">
                      <a:alpha val="40000"/>
                    </a:schemeClr>
                  </a:outerShdw>
                </a:effectLst>
              </a:endParaRPr>
            </a:p>
          </p:txBody>
        </p:sp>
      </p:grpSp>
      <p:grpSp>
        <p:nvGrpSpPr>
          <p:cNvPr id="58" name="Groupe 57"/>
          <p:cNvGrpSpPr/>
          <p:nvPr/>
        </p:nvGrpSpPr>
        <p:grpSpPr>
          <a:xfrm>
            <a:off x="5131939" y="1972056"/>
            <a:ext cx="5050967" cy="1670304"/>
            <a:chOff x="5131939" y="1972056"/>
            <a:chExt cx="5050967" cy="1670304"/>
          </a:xfrm>
        </p:grpSpPr>
        <p:grpSp>
          <p:nvGrpSpPr>
            <p:cNvPr id="17" name="Groupe 16"/>
            <p:cNvGrpSpPr/>
            <p:nvPr/>
          </p:nvGrpSpPr>
          <p:grpSpPr>
            <a:xfrm>
              <a:off x="5131939" y="1972056"/>
              <a:ext cx="4816788" cy="1670304"/>
              <a:chOff x="5083171" y="959496"/>
              <a:chExt cx="4816788" cy="1670304"/>
            </a:xfrm>
          </p:grpSpPr>
          <p:grpSp>
            <p:nvGrpSpPr>
              <p:cNvPr id="18" name="Groupe 17"/>
              <p:cNvGrpSpPr/>
              <p:nvPr/>
            </p:nvGrpSpPr>
            <p:grpSpPr>
              <a:xfrm>
                <a:off x="5083171" y="959496"/>
                <a:ext cx="829056" cy="1670304"/>
                <a:chOff x="5062992" y="1547568"/>
                <a:chExt cx="829056" cy="1670304"/>
              </a:xfrm>
            </p:grpSpPr>
            <p:cxnSp>
              <p:nvCxnSpPr>
                <p:cNvPr id="26" name="Connecteur droit 25"/>
                <p:cNvCxnSpPr/>
                <p:nvPr/>
              </p:nvCxnSpPr>
              <p:spPr>
                <a:xfrm>
                  <a:off x="5453136" y="1547568"/>
                  <a:ext cx="24384" cy="1670304"/>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27" name="Ellipse 26"/>
                <p:cNvSpPr/>
                <p:nvPr/>
              </p:nvSpPr>
              <p:spPr>
                <a:xfrm>
                  <a:off x="5062992" y="2184720"/>
                  <a:ext cx="829056" cy="396000"/>
                </a:xfrm>
                <a:prstGeom prst="ellipse">
                  <a:avLst/>
                </a:prstGeom>
                <a:solidFill>
                  <a:srgbClr val="EAADC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Ellipse 27"/>
                <p:cNvSpPr/>
                <p:nvPr/>
              </p:nvSpPr>
              <p:spPr>
                <a:xfrm>
                  <a:off x="5373120" y="2278320"/>
                  <a:ext cx="208800" cy="208800"/>
                </a:xfrm>
                <a:prstGeom prst="ellipse">
                  <a:avLst/>
                </a:prstGeom>
                <a:solidFill>
                  <a:schemeClr val="accent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9" name="Groupe 18"/>
              <p:cNvGrpSpPr/>
              <p:nvPr/>
            </p:nvGrpSpPr>
            <p:grpSpPr>
              <a:xfrm>
                <a:off x="5992243" y="1503048"/>
                <a:ext cx="3907716" cy="583200"/>
                <a:chOff x="5992243" y="1503048"/>
                <a:chExt cx="3907716" cy="583200"/>
              </a:xfrm>
            </p:grpSpPr>
            <p:grpSp>
              <p:nvGrpSpPr>
                <p:cNvPr id="20" name="Groupe 19"/>
                <p:cNvGrpSpPr/>
                <p:nvPr/>
              </p:nvGrpSpPr>
              <p:grpSpPr>
                <a:xfrm>
                  <a:off x="5992243" y="1503048"/>
                  <a:ext cx="3907716" cy="583200"/>
                  <a:chOff x="6901260" y="1731264"/>
                  <a:chExt cx="3907716" cy="583200"/>
                </a:xfrm>
              </p:grpSpPr>
              <p:grpSp>
                <p:nvGrpSpPr>
                  <p:cNvPr id="22" name="Groupe 21"/>
                  <p:cNvGrpSpPr/>
                  <p:nvPr/>
                </p:nvGrpSpPr>
                <p:grpSpPr>
                  <a:xfrm>
                    <a:off x="6901260" y="1731264"/>
                    <a:ext cx="3907716" cy="583200"/>
                    <a:chOff x="6901260" y="1731264"/>
                    <a:chExt cx="3907716" cy="583200"/>
                  </a:xfrm>
                </p:grpSpPr>
                <p:sp>
                  <p:nvSpPr>
                    <p:cNvPr id="24" name="Rectangle à coins arrondis 23"/>
                    <p:cNvSpPr/>
                    <p:nvPr/>
                  </p:nvSpPr>
                  <p:spPr>
                    <a:xfrm>
                      <a:off x="7046976" y="1731264"/>
                      <a:ext cx="3762000" cy="583200"/>
                    </a:xfrm>
                    <a:prstGeom prst="round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Triangle isocèle 24"/>
                    <p:cNvSpPr/>
                    <p:nvPr/>
                  </p:nvSpPr>
                  <p:spPr>
                    <a:xfrm rot="15893933">
                      <a:off x="6919260" y="1934664"/>
                      <a:ext cx="140400" cy="176400"/>
                    </a:xfrm>
                    <a:prstGeom prst="triangle">
                      <a:avLst/>
                    </a:prstGeom>
                    <a:solidFill>
                      <a:srgbClr val="9F29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3" name="Ellipse 22"/>
                  <p:cNvSpPr/>
                  <p:nvPr/>
                </p:nvSpPr>
                <p:spPr>
                  <a:xfrm>
                    <a:off x="7120129" y="1754256"/>
                    <a:ext cx="493130" cy="537216"/>
                  </a:xfrm>
                  <a:prstGeom prst="ellipse">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1" name="Rectangle 20"/>
                <p:cNvSpPr/>
                <p:nvPr/>
              </p:nvSpPr>
              <p:spPr>
                <a:xfrm>
                  <a:off x="6275576" y="1515652"/>
                  <a:ext cx="364203" cy="523220"/>
                </a:xfrm>
                <a:prstGeom prst="rect">
                  <a:avLst/>
                </a:prstGeom>
                <a:noFill/>
              </p:spPr>
              <p:txBody>
                <a:bodyPr wrap="none" lIns="91440" tIns="45720" rIns="91440" bIns="45720">
                  <a:spAutoFit/>
                </a:bodyPr>
                <a:lstStyle/>
                <a:p>
                  <a:pPr algn="ctr"/>
                  <a:r>
                    <a:rPr lang="fr-FR" sz="2800" dirty="0">
                      <a:ln w="0"/>
                      <a:effectLst>
                        <a:outerShdw blurRad="38100" dist="19050" dir="2700000" algn="tl" rotWithShape="0">
                          <a:schemeClr val="dk1">
                            <a:alpha val="40000"/>
                          </a:schemeClr>
                        </a:outerShdw>
                      </a:effectLst>
                    </a:rPr>
                    <a:t>2</a:t>
                  </a:r>
                  <a:endParaRPr lang="fr-FR" sz="2800" b="0" cap="none" spc="0" dirty="0">
                    <a:ln w="0"/>
                    <a:solidFill>
                      <a:schemeClr val="tx1"/>
                    </a:solidFill>
                    <a:effectLst>
                      <a:outerShdw blurRad="38100" dist="19050" dir="2700000" algn="tl" rotWithShape="0">
                        <a:schemeClr val="dk1">
                          <a:alpha val="40000"/>
                        </a:schemeClr>
                      </a:outerShdw>
                    </a:effectLst>
                  </a:endParaRPr>
                </a:p>
              </p:txBody>
            </p:sp>
          </p:grpSp>
        </p:grpSp>
        <p:sp>
          <p:nvSpPr>
            <p:cNvPr id="53" name="Rectangle 52"/>
            <p:cNvSpPr/>
            <p:nvPr/>
          </p:nvSpPr>
          <p:spPr>
            <a:xfrm>
              <a:off x="6373112" y="2613354"/>
              <a:ext cx="3809794" cy="400110"/>
            </a:xfrm>
            <a:prstGeom prst="rect">
              <a:avLst/>
            </a:prstGeom>
            <a:noFill/>
          </p:spPr>
          <p:txBody>
            <a:bodyPr wrap="square" lIns="91440" tIns="45720" rIns="91440" bIns="45720">
              <a:spAutoFit/>
            </a:bodyPr>
            <a:lstStyle/>
            <a:p>
              <a:pPr algn="ctr"/>
              <a:r>
                <a:rPr lang="fr-FR" sz="2000" dirty="0">
                  <a:ln w="0"/>
                  <a:solidFill>
                    <a:schemeClr val="bg1"/>
                  </a:solidFill>
                  <a:effectLst>
                    <a:outerShdw blurRad="38100" dist="19050" dir="2700000" algn="tl" rotWithShape="0">
                      <a:schemeClr val="dk1">
                        <a:alpha val="40000"/>
                      </a:schemeClr>
                    </a:outerShdw>
                  </a:effectLst>
                </a:rPr>
                <a:t>Contrainte de Compatibilité </a:t>
              </a:r>
              <a:endParaRPr lang="fr-FR" sz="2000" b="0" cap="none" spc="0" dirty="0">
                <a:ln w="0"/>
                <a:solidFill>
                  <a:schemeClr val="bg1"/>
                </a:solidFill>
                <a:effectLst>
                  <a:outerShdw blurRad="38100" dist="19050" dir="2700000" algn="tl" rotWithShape="0">
                    <a:schemeClr val="dk1">
                      <a:alpha val="40000"/>
                    </a:schemeClr>
                  </a:outerShdw>
                </a:effectLst>
              </a:endParaRPr>
            </a:p>
          </p:txBody>
        </p:sp>
      </p:grpSp>
      <p:grpSp>
        <p:nvGrpSpPr>
          <p:cNvPr id="60" name="Groupe 59"/>
          <p:cNvGrpSpPr/>
          <p:nvPr/>
        </p:nvGrpSpPr>
        <p:grpSpPr>
          <a:xfrm>
            <a:off x="5180707" y="5173300"/>
            <a:ext cx="4904219" cy="1670304"/>
            <a:chOff x="5180707" y="5173300"/>
            <a:chExt cx="4904219" cy="1670304"/>
          </a:xfrm>
        </p:grpSpPr>
        <p:grpSp>
          <p:nvGrpSpPr>
            <p:cNvPr id="41" name="Groupe 40"/>
            <p:cNvGrpSpPr/>
            <p:nvPr/>
          </p:nvGrpSpPr>
          <p:grpSpPr>
            <a:xfrm>
              <a:off x="5180707" y="5173300"/>
              <a:ext cx="4816788" cy="1670304"/>
              <a:chOff x="5083171" y="959496"/>
              <a:chExt cx="4816788" cy="1670304"/>
            </a:xfrm>
          </p:grpSpPr>
          <p:grpSp>
            <p:nvGrpSpPr>
              <p:cNvPr id="42" name="Groupe 41"/>
              <p:cNvGrpSpPr/>
              <p:nvPr/>
            </p:nvGrpSpPr>
            <p:grpSpPr>
              <a:xfrm>
                <a:off x="5083171" y="959496"/>
                <a:ext cx="829056" cy="1670304"/>
                <a:chOff x="5062992" y="1547568"/>
                <a:chExt cx="829056" cy="1670304"/>
              </a:xfrm>
            </p:grpSpPr>
            <p:cxnSp>
              <p:nvCxnSpPr>
                <p:cNvPr id="50" name="Connecteur droit 49"/>
                <p:cNvCxnSpPr/>
                <p:nvPr/>
              </p:nvCxnSpPr>
              <p:spPr>
                <a:xfrm>
                  <a:off x="5453136" y="1547568"/>
                  <a:ext cx="24384" cy="1670304"/>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51" name="Ellipse 50"/>
                <p:cNvSpPr/>
                <p:nvPr/>
              </p:nvSpPr>
              <p:spPr>
                <a:xfrm>
                  <a:off x="5062992" y="2184720"/>
                  <a:ext cx="829056" cy="396000"/>
                </a:xfrm>
                <a:prstGeom prst="ellipse">
                  <a:avLst/>
                </a:prstGeom>
                <a:solidFill>
                  <a:srgbClr val="EAADC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Ellipse 51"/>
                <p:cNvSpPr/>
                <p:nvPr/>
              </p:nvSpPr>
              <p:spPr>
                <a:xfrm>
                  <a:off x="5373120" y="2278320"/>
                  <a:ext cx="208800" cy="208800"/>
                </a:xfrm>
                <a:prstGeom prst="ellipse">
                  <a:avLst/>
                </a:prstGeom>
                <a:solidFill>
                  <a:schemeClr val="accent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43" name="Groupe 42"/>
              <p:cNvGrpSpPr/>
              <p:nvPr/>
            </p:nvGrpSpPr>
            <p:grpSpPr>
              <a:xfrm>
                <a:off x="5992243" y="1503048"/>
                <a:ext cx="3907716" cy="583200"/>
                <a:chOff x="5992243" y="1503048"/>
                <a:chExt cx="3907716" cy="583200"/>
              </a:xfrm>
            </p:grpSpPr>
            <p:grpSp>
              <p:nvGrpSpPr>
                <p:cNvPr id="44" name="Groupe 43"/>
                <p:cNvGrpSpPr/>
                <p:nvPr/>
              </p:nvGrpSpPr>
              <p:grpSpPr>
                <a:xfrm>
                  <a:off x="5992243" y="1503048"/>
                  <a:ext cx="3907716" cy="583200"/>
                  <a:chOff x="6901260" y="1731264"/>
                  <a:chExt cx="3907716" cy="583200"/>
                </a:xfrm>
              </p:grpSpPr>
              <p:grpSp>
                <p:nvGrpSpPr>
                  <p:cNvPr id="46" name="Groupe 45"/>
                  <p:cNvGrpSpPr/>
                  <p:nvPr/>
                </p:nvGrpSpPr>
                <p:grpSpPr>
                  <a:xfrm>
                    <a:off x="6901260" y="1731264"/>
                    <a:ext cx="3907716" cy="583200"/>
                    <a:chOff x="6901260" y="1731264"/>
                    <a:chExt cx="3907716" cy="583200"/>
                  </a:xfrm>
                </p:grpSpPr>
                <p:sp>
                  <p:nvSpPr>
                    <p:cNvPr id="48" name="Rectangle à coins arrondis 47"/>
                    <p:cNvSpPr/>
                    <p:nvPr/>
                  </p:nvSpPr>
                  <p:spPr>
                    <a:xfrm>
                      <a:off x="7046976" y="1731264"/>
                      <a:ext cx="3762000" cy="583200"/>
                    </a:xfrm>
                    <a:prstGeom prst="round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Triangle isocèle 48"/>
                    <p:cNvSpPr/>
                    <p:nvPr/>
                  </p:nvSpPr>
                  <p:spPr>
                    <a:xfrm rot="15893933">
                      <a:off x="6919260" y="1934664"/>
                      <a:ext cx="140400" cy="176400"/>
                    </a:xfrm>
                    <a:prstGeom prst="triangle">
                      <a:avLst/>
                    </a:prstGeom>
                    <a:solidFill>
                      <a:srgbClr val="9F29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47" name="Ellipse 46"/>
                  <p:cNvSpPr/>
                  <p:nvPr/>
                </p:nvSpPr>
                <p:spPr>
                  <a:xfrm>
                    <a:off x="7120129" y="1754256"/>
                    <a:ext cx="493130" cy="537216"/>
                  </a:xfrm>
                  <a:prstGeom prst="ellipse">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45" name="Rectangle 44"/>
                <p:cNvSpPr/>
                <p:nvPr/>
              </p:nvSpPr>
              <p:spPr>
                <a:xfrm>
                  <a:off x="6275576" y="1515652"/>
                  <a:ext cx="364203" cy="523220"/>
                </a:xfrm>
                <a:prstGeom prst="rect">
                  <a:avLst/>
                </a:prstGeom>
                <a:noFill/>
              </p:spPr>
              <p:txBody>
                <a:bodyPr wrap="none" lIns="91440" tIns="45720" rIns="91440" bIns="45720">
                  <a:spAutoFit/>
                </a:bodyPr>
                <a:lstStyle/>
                <a:p>
                  <a:pPr algn="ctr"/>
                  <a:r>
                    <a:rPr lang="fr-FR" sz="2800" dirty="0">
                      <a:ln w="0"/>
                      <a:effectLst>
                        <a:outerShdw blurRad="38100" dist="19050" dir="2700000" algn="tl" rotWithShape="0">
                          <a:schemeClr val="dk1">
                            <a:alpha val="40000"/>
                          </a:schemeClr>
                        </a:outerShdw>
                      </a:effectLst>
                    </a:rPr>
                    <a:t>4</a:t>
                  </a:r>
                  <a:endParaRPr lang="fr-FR" sz="2800" b="0" cap="none" spc="0" dirty="0">
                    <a:ln w="0"/>
                    <a:solidFill>
                      <a:schemeClr val="tx1"/>
                    </a:solidFill>
                    <a:effectLst>
                      <a:outerShdw blurRad="38100" dist="19050" dir="2700000" algn="tl" rotWithShape="0">
                        <a:schemeClr val="dk1">
                          <a:alpha val="40000"/>
                        </a:schemeClr>
                      </a:outerShdw>
                    </a:effectLst>
                  </a:endParaRPr>
                </a:p>
              </p:txBody>
            </p:sp>
          </p:grpSp>
        </p:grpSp>
        <p:sp>
          <p:nvSpPr>
            <p:cNvPr id="54" name="Rectangle 53"/>
            <p:cNvSpPr/>
            <p:nvPr/>
          </p:nvSpPr>
          <p:spPr>
            <a:xfrm>
              <a:off x="6697460" y="5753840"/>
              <a:ext cx="3387466" cy="461665"/>
            </a:xfrm>
            <a:prstGeom prst="rect">
              <a:avLst/>
            </a:prstGeom>
            <a:noFill/>
          </p:spPr>
          <p:txBody>
            <a:bodyPr wrap="none" lIns="91440" tIns="45720" rIns="91440" bIns="45720">
              <a:spAutoFit/>
            </a:bodyPr>
            <a:lstStyle/>
            <a:p>
              <a:pPr algn="ctr"/>
              <a:r>
                <a:rPr lang="fr-FR" sz="2400" dirty="0">
                  <a:solidFill>
                    <a:schemeClr val="bg1"/>
                  </a:solidFill>
                  <a:latin typeface="Times New Roman" panose="02020603050405020304" pitchFamily="18" charset="0"/>
                  <a:ea typeface="Calibri" panose="020F0502020204030204" pitchFamily="34" charset="0"/>
                </a:rPr>
                <a:t>Contrainte de </a:t>
              </a:r>
              <a:r>
                <a:rPr lang="fr-FR" sz="2400" dirty="0" smtClean="0">
                  <a:solidFill>
                    <a:schemeClr val="bg1"/>
                  </a:solidFill>
                  <a:latin typeface="Times New Roman" panose="02020603050405020304" pitchFamily="18" charset="0"/>
                  <a:ea typeface="Calibri" panose="020F0502020204030204" pitchFamily="34" charset="0"/>
                </a:rPr>
                <a:t>Ressources</a:t>
              </a:r>
              <a:endParaRPr lang="fr-FR" sz="2400" b="0" cap="none" spc="0" dirty="0">
                <a:ln w="0"/>
                <a:solidFill>
                  <a:schemeClr val="bg1"/>
                </a:solidFill>
                <a:effectLst>
                  <a:outerShdw blurRad="38100" dist="19050" dir="2700000" algn="tl" rotWithShape="0">
                    <a:schemeClr val="dk1">
                      <a:alpha val="40000"/>
                    </a:schemeClr>
                  </a:outerShdw>
                </a:effectLst>
              </a:endParaRPr>
            </a:p>
          </p:txBody>
        </p:sp>
      </p:grpSp>
      <p:grpSp>
        <p:nvGrpSpPr>
          <p:cNvPr id="87" name="Groupe 86"/>
          <p:cNvGrpSpPr/>
          <p:nvPr/>
        </p:nvGrpSpPr>
        <p:grpSpPr>
          <a:xfrm>
            <a:off x="5156323" y="3530006"/>
            <a:ext cx="4816788" cy="1670304"/>
            <a:chOff x="5156323" y="3530006"/>
            <a:chExt cx="4816788" cy="1670304"/>
          </a:xfrm>
        </p:grpSpPr>
        <p:grpSp>
          <p:nvGrpSpPr>
            <p:cNvPr id="29" name="Groupe 28"/>
            <p:cNvGrpSpPr/>
            <p:nvPr/>
          </p:nvGrpSpPr>
          <p:grpSpPr>
            <a:xfrm>
              <a:off x="5156323" y="3530006"/>
              <a:ext cx="4816788" cy="1670304"/>
              <a:chOff x="5083171" y="959496"/>
              <a:chExt cx="4816788" cy="1670304"/>
            </a:xfrm>
          </p:grpSpPr>
          <p:grpSp>
            <p:nvGrpSpPr>
              <p:cNvPr id="30" name="Groupe 29"/>
              <p:cNvGrpSpPr/>
              <p:nvPr/>
            </p:nvGrpSpPr>
            <p:grpSpPr>
              <a:xfrm>
                <a:off x="5083171" y="959496"/>
                <a:ext cx="829056" cy="1670304"/>
                <a:chOff x="5062992" y="1547568"/>
                <a:chExt cx="829056" cy="1670304"/>
              </a:xfrm>
            </p:grpSpPr>
            <p:cxnSp>
              <p:nvCxnSpPr>
                <p:cNvPr id="38" name="Connecteur droit 37"/>
                <p:cNvCxnSpPr/>
                <p:nvPr/>
              </p:nvCxnSpPr>
              <p:spPr>
                <a:xfrm>
                  <a:off x="5453136" y="1547568"/>
                  <a:ext cx="24384" cy="1670304"/>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39" name="Ellipse 38"/>
                <p:cNvSpPr/>
                <p:nvPr/>
              </p:nvSpPr>
              <p:spPr>
                <a:xfrm>
                  <a:off x="5062992" y="2184720"/>
                  <a:ext cx="829056" cy="396000"/>
                </a:xfrm>
                <a:prstGeom prst="ellipse">
                  <a:avLst/>
                </a:prstGeom>
                <a:solidFill>
                  <a:srgbClr val="EAADC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Ellipse 39"/>
                <p:cNvSpPr/>
                <p:nvPr/>
              </p:nvSpPr>
              <p:spPr>
                <a:xfrm>
                  <a:off x="5373120" y="2278320"/>
                  <a:ext cx="208800" cy="208800"/>
                </a:xfrm>
                <a:prstGeom prst="ellipse">
                  <a:avLst/>
                </a:prstGeom>
                <a:solidFill>
                  <a:schemeClr val="accent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1" name="Groupe 30"/>
              <p:cNvGrpSpPr/>
              <p:nvPr/>
            </p:nvGrpSpPr>
            <p:grpSpPr>
              <a:xfrm>
                <a:off x="5992243" y="1503048"/>
                <a:ext cx="3907716" cy="583200"/>
                <a:chOff x="5992243" y="1503048"/>
                <a:chExt cx="3907716" cy="583200"/>
              </a:xfrm>
            </p:grpSpPr>
            <p:grpSp>
              <p:nvGrpSpPr>
                <p:cNvPr id="32" name="Groupe 31"/>
                <p:cNvGrpSpPr/>
                <p:nvPr/>
              </p:nvGrpSpPr>
              <p:grpSpPr>
                <a:xfrm>
                  <a:off x="5992243" y="1503048"/>
                  <a:ext cx="3907716" cy="583200"/>
                  <a:chOff x="6901260" y="1731264"/>
                  <a:chExt cx="3907716" cy="583200"/>
                </a:xfrm>
              </p:grpSpPr>
              <p:grpSp>
                <p:nvGrpSpPr>
                  <p:cNvPr id="34" name="Groupe 33"/>
                  <p:cNvGrpSpPr/>
                  <p:nvPr/>
                </p:nvGrpSpPr>
                <p:grpSpPr>
                  <a:xfrm>
                    <a:off x="6901260" y="1731264"/>
                    <a:ext cx="3907716" cy="583200"/>
                    <a:chOff x="6901260" y="1731264"/>
                    <a:chExt cx="3907716" cy="583200"/>
                  </a:xfrm>
                </p:grpSpPr>
                <p:sp>
                  <p:nvSpPr>
                    <p:cNvPr id="36" name="Rectangle à coins arrondis 35"/>
                    <p:cNvSpPr/>
                    <p:nvPr/>
                  </p:nvSpPr>
                  <p:spPr>
                    <a:xfrm>
                      <a:off x="7046976" y="1731264"/>
                      <a:ext cx="3762000" cy="583200"/>
                    </a:xfrm>
                    <a:prstGeom prst="round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Triangle isocèle 36"/>
                    <p:cNvSpPr/>
                    <p:nvPr/>
                  </p:nvSpPr>
                  <p:spPr>
                    <a:xfrm rot="15893933">
                      <a:off x="6919260" y="1934664"/>
                      <a:ext cx="140400" cy="176400"/>
                    </a:xfrm>
                    <a:prstGeom prst="triangle">
                      <a:avLst/>
                    </a:prstGeom>
                    <a:solidFill>
                      <a:srgbClr val="9F29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35" name="Ellipse 34"/>
                  <p:cNvSpPr/>
                  <p:nvPr/>
                </p:nvSpPr>
                <p:spPr>
                  <a:xfrm>
                    <a:off x="7120129" y="1754256"/>
                    <a:ext cx="493130" cy="537216"/>
                  </a:xfrm>
                  <a:prstGeom prst="ellipse">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33" name="Rectangle 32"/>
                <p:cNvSpPr/>
                <p:nvPr/>
              </p:nvSpPr>
              <p:spPr>
                <a:xfrm>
                  <a:off x="6275576" y="1515652"/>
                  <a:ext cx="364203" cy="523220"/>
                </a:xfrm>
                <a:prstGeom prst="rect">
                  <a:avLst/>
                </a:prstGeom>
                <a:noFill/>
              </p:spPr>
              <p:txBody>
                <a:bodyPr wrap="none" lIns="91440" tIns="45720" rIns="91440" bIns="45720">
                  <a:spAutoFit/>
                </a:bodyPr>
                <a:lstStyle/>
                <a:p>
                  <a:pPr algn="ctr"/>
                  <a:r>
                    <a:rPr lang="fr-FR" sz="2800" dirty="0">
                      <a:ln w="0"/>
                      <a:effectLst>
                        <a:outerShdw blurRad="38100" dist="19050" dir="2700000" algn="tl" rotWithShape="0">
                          <a:schemeClr val="dk1">
                            <a:alpha val="40000"/>
                          </a:schemeClr>
                        </a:outerShdw>
                      </a:effectLst>
                    </a:rPr>
                    <a:t>3</a:t>
                  </a:r>
                  <a:endParaRPr lang="fr-FR" sz="2800" b="0" cap="none" spc="0" dirty="0">
                    <a:ln w="0"/>
                    <a:solidFill>
                      <a:schemeClr val="tx1"/>
                    </a:solidFill>
                    <a:effectLst>
                      <a:outerShdw blurRad="38100" dist="19050" dir="2700000" algn="tl" rotWithShape="0">
                        <a:schemeClr val="dk1">
                          <a:alpha val="40000"/>
                        </a:schemeClr>
                      </a:outerShdw>
                    </a:effectLst>
                  </a:endParaRPr>
                </a:p>
              </p:txBody>
            </p:sp>
          </p:grpSp>
        </p:grpSp>
        <p:sp>
          <p:nvSpPr>
            <p:cNvPr id="56" name="Rectangle 55"/>
            <p:cNvSpPr/>
            <p:nvPr/>
          </p:nvSpPr>
          <p:spPr>
            <a:xfrm>
              <a:off x="6891818" y="4063660"/>
              <a:ext cx="3081293" cy="523220"/>
            </a:xfrm>
            <a:prstGeom prst="rect">
              <a:avLst/>
            </a:prstGeom>
            <a:noFill/>
          </p:spPr>
          <p:txBody>
            <a:bodyPr wrap="none" lIns="91440" tIns="45720" rIns="91440" bIns="45720">
              <a:spAutoFit/>
            </a:bodyPr>
            <a:lstStyle/>
            <a:p>
              <a:pPr algn="ctr"/>
              <a:r>
                <a:rPr lang="fr-FR" sz="2800" dirty="0" smtClean="0">
                  <a:solidFill>
                    <a:schemeClr val="bg1"/>
                  </a:solidFill>
                  <a:latin typeface="Times New Roman" panose="02020603050405020304" pitchFamily="18" charset="0"/>
                  <a:ea typeface="Calibri" panose="020F0502020204030204" pitchFamily="34" charset="0"/>
                </a:rPr>
                <a:t>Contrainte de Délai </a:t>
              </a:r>
              <a:endParaRPr lang="fr-FR" sz="2800" b="0" cap="none" spc="0" dirty="0">
                <a:ln w="0"/>
                <a:solidFill>
                  <a:schemeClr val="bg1"/>
                </a:solidFill>
                <a:effectLst>
                  <a:outerShdw blurRad="38100" dist="19050" dir="2700000" algn="tl" rotWithShape="0">
                    <a:schemeClr val="dk1">
                      <a:alpha val="40000"/>
                    </a:schemeClr>
                  </a:outerShdw>
                </a:effectLst>
              </a:endParaRPr>
            </a:p>
          </p:txBody>
        </p:sp>
      </p:grpSp>
      <p:cxnSp>
        <p:nvCxnSpPr>
          <p:cNvPr id="62" name="Connecteur en angle 61"/>
          <p:cNvCxnSpPr/>
          <p:nvPr/>
        </p:nvCxnSpPr>
        <p:spPr>
          <a:xfrm rot="10800000" flipV="1">
            <a:off x="2261903" y="1293662"/>
            <a:ext cx="2736498" cy="131554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Connecteur en angle 67"/>
          <p:cNvCxnSpPr/>
          <p:nvPr/>
        </p:nvCxnSpPr>
        <p:spPr>
          <a:xfrm rot="10800000">
            <a:off x="1847376" y="4469559"/>
            <a:ext cx="3204461" cy="146113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Connecteur en angle 69"/>
          <p:cNvCxnSpPr/>
          <p:nvPr/>
        </p:nvCxnSpPr>
        <p:spPr>
          <a:xfrm rot="10800000" flipV="1">
            <a:off x="2621642" y="2749231"/>
            <a:ext cx="2540098" cy="49712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Connecteur en angle 71"/>
          <p:cNvCxnSpPr/>
          <p:nvPr/>
        </p:nvCxnSpPr>
        <p:spPr>
          <a:xfrm rot="10800000">
            <a:off x="2350754" y="3839712"/>
            <a:ext cx="2649898" cy="50806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Ellipse 1"/>
          <p:cNvSpPr/>
          <p:nvPr/>
        </p:nvSpPr>
        <p:spPr>
          <a:xfrm>
            <a:off x="663456" y="2361192"/>
            <a:ext cx="2160000" cy="2160000"/>
          </a:xfrm>
          <a:prstGeom prst="ellipse">
            <a:avLst/>
          </a:prstGeom>
          <a:solidFill>
            <a:schemeClr val="accent1">
              <a:lumMod val="50000"/>
              <a:lumOff val="50000"/>
            </a:schemeClr>
          </a:solidFill>
          <a:ln>
            <a:solidFill>
              <a:schemeClr val="accent2">
                <a:lumMod val="50000"/>
              </a:schemeClr>
            </a:solidFill>
          </a:ln>
          <a:effectLst>
            <a:outerShdw blurRad="469900" sx="102000" sy="102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fr-FR" b="1" dirty="0" smtClean="0">
                <a:latin typeface="Arial Black" panose="020B0A04020102020204" pitchFamily="34" charset="0"/>
              </a:rPr>
              <a:t>Contraints </a:t>
            </a:r>
            <a:r>
              <a:rPr lang="fr-FR" b="1" dirty="0">
                <a:latin typeface="Arial Black" panose="020B0A04020102020204" pitchFamily="34" charset="0"/>
              </a:rPr>
              <a:t>du projet</a:t>
            </a:r>
          </a:p>
        </p:txBody>
      </p:sp>
    </p:spTree>
    <p:extLst>
      <p:ext uri="{BB962C8B-B14F-4D97-AF65-F5344CB8AC3E}">
        <p14:creationId xmlns:p14="http://schemas.microsoft.com/office/powerpoint/2010/main" val="272982521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62"/>
                                        </p:tgtEl>
                                        <p:attrNameLst>
                                          <p:attrName>style.visibility</p:attrName>
                                        </p:attrNameLst>
                                      </p:cBhvr>
                                      <p:to>
                                        <p:strVal val="visible"/>
                                      </p:to>
                                    </p:set>
                                    <p:animEffect transition="in" filter="wipe(left)">
                                      <p:cBhvr>
                                        <p:cTn id="14" dur="1000"/>
                                        <p:tgtEl>
                                          <p:spTgt spid="6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59"/>
                                        </p:tgtEl>
                                        <p:attrNameLst>
                                          <p:attrName>style.visibility</p:attrName>
                                        </p:attrNameLst>
                                      </p:cBhvr>
                                      <p:to>
                                        <p:strVal val="visible"/>
                                      </p:to>
                                    </p:set>
                                    <p:animEffect transition="in" filter="wipe(left)">
                                      <p:cBhvr>
                                        <p:cTn id="19" dur="1000"/>
                                        <p:tgtEl>
                                          <p:spTgt spid="5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70"/>
                                        </p:tgtEl>
                                        <p:attrNameLst>
                                          <p:attrName>style.visibility</p:attrName>
                                        </p:attrNameLst>
                                      </p:cBhvr>
                                      <p:to>
                                        <p:strVal val="visible"/>
                                      </p:to>
                                    </p:set>
                                    <p:animEffect transition="in" filter="wipe(left)">
                                      <p:cBhvr>
                                        <p:cTn id="24" dur="1000"/>
                                        <p:tgtEl>
                                          <p:spTgt spid="7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58"/>
                                        </p:tgtEl>
                                        <p:attrNameLst>
                                          <p:attrName>style.visibility</p:attrName>
                                        </p:attrNameLst>
                                      </p:cBhvr>
                                      <p:to>
                                        <p:strVal val="visible"/>
                                      </p:to>
                                    </p:set>
                                    <p:animEffect transition="in" filter="wipe(left)">
                                      <p:cBhvr>
                                        <p:cTn id="29" dur="1000"/>
                                        <p:tgtEl>
                                          <p:spTgt spid="5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72"/>
                                        </p:tgtEl>
                                        <p:attrNameLst>
                                          <p:attrName>style.visibility</p:attrName>
                                        </p:attrNameLst>
                                      </p:cBhvr>
                                      <p:to>
                                        <p:strVal val="visible"/>
                                      </p:to>
                                    </p:set>
                                    <p:animEffect transition="in" filter="wipe(left)">
                                      <p:cBhvr>
                                        <p:cTn id="34" dur="1000"/>
                                        <p:tgtEl>
                                          <p:spTgt spid="7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87"/>
                                        </p:tgtEl>
                                        <p:attrNameLst>
                                          <p:attrName>style.visibility</p:attrName>
                                        </p:attrNameLst>
                                      </p:cBhvr>
                                      <p:to>
                                        <p:strVal val="visible"/>
                                      </p:to>
                                    </p:set>
                                    <p:animEffect transition="in" filter="wipe(left)">
                                      <p:cBhvr>
                                        <p:cTn id="39" dur="1000"/>
                                        <p:tgtEl>
                                          <p:spTgt spid="8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68"/>
                                        </p:tgtEl>
                                        <p:attrNameLst>
                                          <p:attrName>style.visibility</p:attrName>
                                        </p:attrNameLst>
                                      </p:cBhvr>
                                      <p:to>
                                        <p:strVal val="visible"/>
                                      </p:to>
                                    </p:set>
                                    <p:animEffect transition="in" filter="wipe(left)">
                                      <p:cBhvr>
                                        <p:cTn id="44" dur="1000"/>
                                        <p:tgtEl>
                                          <p:spTgt spid="68"/>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60"/>
                                        </p:tgtEl>
                                        <p:attrNameLst>
                                          <p:attrName>style.visibility</p:attrName>
                                        </p:attrNameLst>
                                      </p:cBhvr>
                                      <p:to>
                                        <p:strVal val="visible"/>
                                      </p:to>
                                    </p:set>
                                    <p:animEffect transition="in" filter="wipe(left)">
                                      <p:cBhvr>
                                        <p:cTn id="49" dur="10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pattFill prst="diagBrick">
          <a:fgClr>
            <a:schemeClr val="accent1">
              <a:lumMod val="50000"/>
              <a:lumOff val="50000"/>
            </a:schemeClr>
          </a:fgClr>
          <a:bgClr>
            <a:schemeClr val="bg1"/>
          </a:bgClr>
        </a:pattFill>
        <a:effectLst/>
      </p:bgPr>
    </p:bg>
    <p:spTree>
      <p:nvGrpSpPr>
        <p:cNvPr id="1" name=""/>
        <p:cNvGrpSpPr/>
        <p:nvPr/>
      </p:nvGrpSpPr>
      <p:grpSpPr>
        <a:xfrm>
          <a:off x="0" y="0"/>
          <a:ext cx="0" cy="0"/>
          <a:chOff x="0" y="0"/>
          <a:chExt cx="0" cy="0"/>
        </a:xfrm>
      </p:grpSpPr>
      <p:grpSp>
        <p:nvGrpSpPr>
          <p:cNvPr id="14" name="Groupe 13"/>
          <p:cNvGrpSpPr/>
          <p:nvPr/>
        </p:nvGrpSpPr>
        <p:grpSpPr>
          <a:xfrm>
            <a:off x="815423" y="1331999"/>
            <a:ext cx="4186149" cy="584775"/>
            <a:chOff x="5754624" y="1304985"/>
            <a:chExt cx="4186149" cy="584775"/>
          </a:xfrm>
        </p:grpSpPr>
        <p:sp>
          <p:nvSpPr>
            <p:cNvPr id="10" name="Rectangle 9"/>
            <p:cNvSpPr/>
            <p:nvPr/>
          </p:nvSpPr>
          <p:spPr>
            <a:xfrm>
              <a:off x="5754624" y="1332000"/>
              <a:ext cx="3960000" cy="55776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fr-FR"/>
            </a:p>
          </p:txBody>
        </p:sp>
        <p:sp>
          <p:nvSpPr>
            <p:cNvPr id="11" name="Rectangle à coins arrondis 10"/>
            <p:cNvSpPr/>
            <p:nvPr/>
          </p:nvSpPr>
          <p:spPr>
            <a:xfrm rot="2840963">
              <a:off x="9400773" y="1340881"/>
              <a:ext cx="540000" cy="54000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fr-FR"/>
            </a:p>
          </p:txBody>
        </p:sp>
        <p:sp>
          <p:nvSpPr>
            <p:cNvPr id="12" name="Rectangle 11"/>
            <p:cNvSpPr/>
            <p:nvPr/>
          </p:nvSpPr>
          <p:spPr>
            <a:xfrm>
              <a:off x="5894544" y="1433248"/>
              <a:ext cx="3394712" cy="338554"/>
            </a:xfrm>
            <a:prstGeom prst="rect">
              <a:avLst/>
            </a:prstGeom>
            <a:noFill/>
          </p:spPr>
          <p:txBody>
            <a:bodyPr wrap="none" lIns="91440" tIns="45720" rIns="91440" bIns="45720">
              <a:spAutoFit/>
            </a:bodyPr>
            <a:lstStyle/>
            <a:p>
              <a:pPr lvl="0"/>
              <a:r>
                <a:rPr lang="fr-FR" sz="1600" dirty="0">
                  <a:latin typeface="Arial Black" panose="020B0A04020102020204" pitchFamily="34" charset="0"/>
                </a:rPr>
                <a:t>Dashboard web opérationnel</a:t>
              </a:r>
            </a:p>
          </p:txBody>
        </p:sp>
        <p:sp>
          <p:nvSpPr>
            <p:cNvPr id="13" name="Rectangle 12"/>
            <p:cNvSpPr/>
            <p:nvPr/>
          </p:nvSpPr>
          <p:spPr>
            <a:xfrm>
              <a:off x="9502157" y="1304985"/>
              <a:ext cx="352387" cy="584775"/>
            </a:xfrm>
            <a:prstGeom prst="rect">
              <a:avLst/>
            </a:prstGeom>
            <a:noFill/>
          </p:spPr>
          <p:txBody>
            <a:bodyPr wrap="square" lIns="91440" tIns="45720" rIns="91440" bIns="45720">
              <a:spAutoFit/>
            </a:bodyPr>
            <a:lstStyle/>
            <a:p>
              <a:pPr algn="ctr"/>
              <a:r>
                <a:rPr lang="fr-FR" sz="3200" b="0" cap="none" spc="0" dirty="0" smtClean="0">
                  <a:ln w="0"/>
                  <a:solidFill>
                    <a:schemeClr val="bg1"/>
                  </a:solidFill>
                  <a:effectLst>
                    <a:outerShdw blurRad="38100" dist="19050" dir="2700000" algn="tl" rotWithShape="0">
                      <a:schemeClr val="dk1">
                        <a:alpha val="40000"/>
                      </a:schemeClr>
                    </a:outerShdw>
                  </a:effectLst>
                </a:rPr>
                <a:t>1</a:t>
              </a:r>
              <a:endParaRPr lang="fr-FR" sz="3200" b="0" cap="none" spc="0" dirty="0">
                <a:ln w="0"/>
                <a:solidFill>
                  <a:schemeClr val="bg1"/>
                </a:solidFill>
                <a:effectLst>
                  <a:outerShdw blurRad="38100" dist="19050" dir="2700000" algn="tl" rotWithShape="0">
                    <a:schemeClr val="dk1">
                      <a:alpha val="40000"/>
                    </a:schemeClr>
                  </a:outerShdw>
                </a:effectLst>
              </a:endParaRPr>
            </a:p>
          </p:txBody>
        </p:sp>
      </p:grpSp>
      <p:grpSp>
        <p:nvGrpSpPr>
          <p:cNvPr id="15" name="Groupe 14"/>
          <p:cNvGrpSpPr/>
          <p:nvPr/>
        </p:nvGrpSpPr>
        <p:grpSpPr>
          <a:xfrm>
            <a:off x="729194" y="4893392"/>
            <a:ext cx="4186149" cy="584775"/>
            <a:chOff x="5754624" y="1304985"/>
            <a:chExt cx="4186149" cy="584775"/>
          </a:xfrm>
        </p:grpSpPr>
        <p:sp>
          <p:nvSpPr>
            <p:cNvPr id="16" name="Rectangle 15"/>
            <p:cNvSpPr/>
            <p:nvPr/>
          </p:nvSpPr>
          <p:spPr>
            <a:xfrm>
              <a:off x="5754624" y="1332000"/>
              <a:ext cx="3960000" cy="55776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fr-FR"/>
            </a:p>
          </p:txBody>
        </p:sp>
        <p:sp>
          <p:nvSpPr>
            <p:cNvPr id="17" name="Rectangle à coins arrondis 16"/>
            <p:cNvSpPr/>
            <p:nvPr/>
          </p:nvSpPr>
          <p:spPr>
            <a:xfrm rot="2840963">
              <a:off x="9400773" y="1340881"/>
              <a:ext cx="540000" cy="54000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fr-FR"/>
            </a:p>
          </p:txBody>
        </p:sp>
        <p:sp>
          <p:nvSpPr>
            <p:cNvPr id="18" name="Rectangle 17"/>
            <p:cNvSpPr/>
            <p:nvPr/>
          </p:nvSpPr>
          <p:spPr>
            <a:xfrm>
              <a:off x="6326971" y="1428095"/>
              <a:ext cx="2296911" cy="338554"/>
            </a:xfrm>
            <a:prstGeom prst="rect">
              <a:avLst/>
            </a:prstGeom>
            <a:noFill/>
          </p:spPr>
          <p:txBody>
            <a:bodyPr wrap="none" lIns="91440" tIns="45720" rIns="91440" bIns="45720">
              <a:spAutoFit/>
            </a:bodyPr>
            <a:lstStyle/>
            <a:p>
              <a:pPr lvl="0"/>
              <a:r>
                <a:rPr lang="fr-FR" sz="1600" dirty="0" smtClean="0">
                  <a:latin typeface="Arial Black" panose="020B0A04020102020204" pitchFamily="34" charset="0"/>
                </a:rPr>
                <a:t>Rapport </a:t>
              </a:r>
              <a:r>
                <a:rPr lang="fr-FR" sz="1600" dirty="0">
                  <a:latin typeface="Arial Black" panose="020B0A04020102020204" pitchFamily="34" charset="0"/>
                </a:rPr>
                <a:t>du projet </a:t>
              </a:r>
            </a:p>
          </p:txBody>
        </p:sp>
        <p:sp>
          <p:nvSpPr>
            <p:cNvPr id="19" name="Rectangle 18"/>
            <p:cNvSpPr/>
            <p:nvPr/>
          </p:nvSpPr>
          <p:spPr>
            <a:xfrm>
              <a:off x="9502157" y="1304985"/>
              <a:ext cx="352387" cy="584775"/>
            </a:xfrm>
            <a:prstGeom prst="rect">
              <a:avLst/>
            </a:prstGeom>
            <a:noFill/>
          </p:spPr>
          <p:txBody>
            <a:bodyPr wrap="square" lIns="91440" tIns="45720" rIns="91440" bIns="45720">
              <a:spAutoFit/>
            </a:bodyPr>
            <a:lstStyle/>
            <a:p>
              <a:pPr algn="ctr"/>
              <a:r>
                <a:rPr lang="fr-FR" sz="3200" dirty="0">
                  <a:ln w="0"/>
                  <a:solidFill>
                    <a:schemeClr val="bg1"/>
                  </a:solidFill>
                  <a:effectLst>
                    <a:outerShdw blurRad="38100" dist="19050" dir="2700000" algn="tl" rotWithShape="0">
                      <a:schemeClr val="dk1">
                        <a:alpha val="40000"/>
                      </a:schemeClr>
                    </a:outerShdw>
                  </a:effectLst>
                </a:rPr>
                <a:t>2</a:t>
              </a:r>
              <a:endParaRPr lang="fr-FR" sz="3200" b="0" cap="none" spc="0" dirty="0">
                <a:ln w="0"/>
                <a:solidFill>
                  <a:schemeClr val="bg1"/>
                </a:solidFill>
                <a:effectLst>
                  <a:outerShdw blurRad="38100" dist="19050" dir="2700000" algn="tl" rotWithShape="0">
                    <a:schemeClr val="dk1">
                      <a:alpha val="40000"/>
                    </a:schemeClr>
                  </a:outerShdw>
                </a:effectLst>
              </a:endParaRPr>
            </a:p>
          </p:txBody>
        </p:sp>
      </p:grpSp>
      <p:sp>
        <p:nvSpPr>
          <p:cNvPr id="5" name="Rectangle à coins arrondis 4"/>
          <p:cNvSpPr/>
          <p:nvPr/>
        </p:nvSpPr>
        <p:spPr>
          <a:xfrm rot="2840963">
            <a:off x="1290893" y="1449000"/>
            <a:ext cx="3960000" cy="396000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fr-FR"/>
          </a:p>
        </p:txBody>
      </p:sp>
      <p:sp>
        <p:nvSpPr>
          <p:cNvPr id="3" name="Rectangle 2"/>
          <p:cNvSpPr/>
          <p:nvPr/>
        </p:nvSpPr>
        <p:spPr>
          <a:xfrm>
            <a:off x="0" y="1332000"/>
            <a:ext cx="3600000" cy="41940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4" name="Rectangle à coins arrondis 3"/>
          <p:cNvSpPr/>
          <p:nvPr/>
        </p:nvSpPr>
        <p:spPr>
          <a:xfrm rot="2840963">
            <a:off x="1584959" y="1629000"/>
            <a:ext cx="3600000" cy="360000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p>
        </p:txBody>
      </p:sp>
      <p:sp>
        <p:nvSpPr>
          <p:cNvPr id="8" name="Rectangle à coins arrondis 7"/>
          <p:cNvSpPr/>
          <p:nvPr/>
        </p:nvSpPr>
        <p:spPr>
          <a:xfrm rot="2927738">
            <a:off x="1944958" y="1924002"/>
            <a:ext cx="2880000" cy="2880000"/>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a:p>
        </p:txBody>
      </p:sp>
      <p:sp>
        <p:nvSpPr>
          <p:cNvPr id="9" name="Rectangle 8"/>
          <p:cNvSpPr/>
          <p:nvPr/>
        </p:nvSpPr>
        <p:spPr>
          <a:xfrm>
            <a:off x="2118927" y="2902337"/>
            <a:ext cx="2645275" cy="923330"/>
          </a:xfrm>
          <a:prstGeom prst="rect">
            <a:avLst/>
          </a:prstGeom>
          <a:noFill/>
        </p:spPr>
        <p:txBody>
          <a:bodyPr wrap="none" lIns="91440" tIns="45720" rIns="91440" bIns="45720">
            <a:spAutoFit/>
          </a:bodyPr>
          <a:lstStyle/>
          <a:p>
            <a:pPr algn="ctr"/>
            <a:r>
              <a:rPr lang="fr-FR" sz="5400" dirty="0" smtClean="0">
                <a:ln w="0"/>
                <a:solidFill>
                  <a:schemeClr val="bg1"/>
                </a:solidFill>
                <a:effectLst>
                  <a:outerShdw blurRad="38100" dist="19050" dir="2700000" algn="tl" rotWithShape="0">
                    <a:schemeClr val="dk1">
                      <a:alpha val="40000"/>
                    </a:schemeClr>
                  </a:outerShdw>
                </a:effectLst>
              </a:rPr>
              <a:t>Livrables</a:t>
            </a:r>
            <a:endParaRPr lang="fr-FR" sz="5400" b="0" cap="none" spc="0" dirty="0">
              <a:ln w="0"/>
              <a:solidFill>
                <a:schemeClr val="bg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614261271"/>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00325 0.02268 L 0.27461 0.01689 " pathEditMode="relative" rAng="0" ptsTypes="AA">
                                      <p:cBhvr>
                                        <p:cTn id="6" dur="2000" fill="hold"/>
                                        <p:tgtEl>
                                          <p:spTgt spid="14"/>
                                        </p:tgtEl>
                                        <p:attrNameLst>
                                          <p:attrName>ppt_x</p:attrName>
                                          <p:attrName>ppt_y</p:attrName>
                                        </p:attrNameLst>
                                      </p:cBhvr>
                                      <p:rCtr x="13893" y="-301"/>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00325 0.02268 L 0.25169 0.00139 " pathEditMode="relative" rAng="0" ptsTypes="AA">
                                      <p:cBhvr>
                                        <p:cTn id="10" dur="2000" fill="hold"/>
                                        <p:tgtEl>
                                          <p:spTgt spid="15"/>
                                        </p:tgtEl>
                                        <p:attrNameLst>
                                          <p:attrName>ppt_x</p:attrName>
                                          <p:attrName>ppt_y</p:attrName>
                                        </p:attrNameLst>
                                      </p:cBhvr>
                                      <p:rCtr x="12747" y="-106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ividende">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TM03457464[[fn=Dividende]]</Template>
  <TotalTime>1043</TotalTime>
  <Words>602</Words>
  <Application>Microsoft Office PowerPoint</Application>
  <PresentationFormat>Grand écran</PresentationFormat>
  <Paragraphs>114</Paragraphs>
  <Slides>8</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8</vt:i4>
      </vt:variant>
    </vt:vector>
  </HeadingPairs>
  <TitlesOfParts>
    <vt:vector size="15" baseType="lpstr">
      <vt:lpstr>Agency FB</vt:lpstr>
      <vt:lpstr>Arial Black</vt:lpstr>
      <vt:lpstr>Calibri</vt:lpstr>
      <vt:lpstr>Gill Sans MT</vt:lpstr>
      <vt:lpstr>Times New Roman</vt:lpstr>
      <vt:lpstr>Wingdings 2</vt:lpstr>
      <vt:lpstr>Dividende</vt:lpstr>
      <vt:lpstr>BIENVENU à cette présentation ayant pour</vt:lpstr>
      <vt:lpstr>Plan du devoir</vt:lpstr>
      <vt:lpstr>Présentation PowerPoint</vt:lpstr>
      <vt:lpstr>Estimation du cout </vt:lpstr>
      <vt:lpstr>Ressources matérielles</vt:lpstr>
      <vt:lpstr>Estimation totale </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BIENVENU à cette presentation eyant pour</dc:title>
  <dc:creator>ravageur</dc:creator>
  <cp:lastModifiedBy>ravageur</cp:lastModifiedBy>
  <cp:revision>43</cp:revision>
  <dcterms:created xsi:type="dcterms:W3CDTF">2025-12-12T20:11:26Z</dcterms:created>
  <dcterms:modified xsi:type="dcterms:W3CDTF">2026-01-26T21:22:22Z</dcterms:modified>
</cp:coreProperties>
</file>